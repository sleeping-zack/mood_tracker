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816966c2648e1" /><Relationship Type="http://schemas.openxmlformats.org/officeDocument/2006/relationships/extended-properties" Target="/docProps/app.xml" Id="R3aa09c2e86ed4da4" /><Relationship Type="http://schemas.openxmlformats.org/officeDocument/2006/relationships/officeDocument" Target="/ppt/presentation.xml" Id="R309aa739608049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ff1d778174a92"/>
  </p:sldMasterIdLst>
  <p:notesMasterIdLst>
    <p:notesMasterId xmlns:r="http://schemas.openxmlformats.org/officeDocument/2006/relationships" r:id="R16bc379db0e546d7"/>
  </p:notesMasterIdLst>
  <p:sldIdLst>
    <p:sldId xmlns:r="http://schemas.openxmlformats.org/officeDocument/2006/relationships" id="256" r:id="Rd1d328fa5d5b40fb"/>
    <p:sldId xmlns:r="http://schemas.openxmlformats.org/officeDocument/2006/relationships" id="257" r:id="Rc2efa2de18f5460e"/>
    <p:sldId xmlns:r="http://schemas.openxmlformats.org/officeDocument/2006/relationships" id="258" r:id="R56f42c16c98c4563"/>
    <p:sldId xmlns:r="http://schemas.openxmlformats.org/officeDocument/2006/relationships" id="259" r:id="R5a0d756f252a432e"/>
    <p:sldId xmlns:r="http://schemas.openxmlformats.org/officeDocument/2006/relationships" id="260" r:id="Rc5b78b6290c94701"/>
    <p:sldId xmlns:r="http://schemas.openxmlformats.org/officeDocument/2006/relationships" id="261" r:id="R04c2adf126184388"/>
    <p:sldId xmlns:r="http://schemas.openxmlformats.org/officeDocument/2006/relationships" id="262" r:id="Rad432d8aeb384de8"/>
    <p:sldId xmlns:r="http://schemas.openxmlformats.org/officeDocument/2006/relationships" id="263" r:id="Rb662eafd99d74ab1"/>
    <p:sldId xmlns:r="http://schemas.openxmlformats.org/officeDocument/2006/relationships" id="264" r:id="R3ccfdddd8ec44c5b"/>
    <p:sldId xmlns:r="http://schemas.openxmlformats.org/officeDocument/2006/relationships" id="265" r:id="R6f61f54cf3d64b11"/>
    <p:sldId xmlns:r="http://schemas.openxmlformats.org/officeDocument/2006/relationships" id="266" r:id="Rd4f25758657a45f6"/>
    <p:sldId xmlns:r="http://schemas.openxmlformats.org/officeDocument/2006/relationships" id="267" r:id="R82513bf6c7df4236"/>
    <p:sldId xmlns:r="http://schemas.openxmlformats.org/officeDocument/2006/relationships" id="268" r:id="R2eb91fbc80e844b9"/>
    <p:sldId xmlns:r="http://schemas.openxmlformats.org/officeDocument/2006/relationships" id="269" r:id="R75c3268b5b89429c"/>
    <p:sldId xmlns:r="http://schemas.openxmlformats.org/officeDocument/2006/relationships" id="270" r:id="Rfb9c01edab75492e"/>
    <p:sldId xmlns:r="http://schemas.openxmlformats.org/officeDocument/2006/relationships" id="271" r:id="R8d549f7544ed49c0"/>
    <p:sldId xmlns:r="http://schemas.openxmlformats.org/officeDocument/2006/relationships" id="272" r:id="Read1562574564199"/>
    <p:sldId xmlns:r="http://schemas.openxmlformats.org/officeDocument/2006/relationships" id="273" r:id="R6555ea88753346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ff1d778174a92" /><Relationship Type="http://schemas.openxmlformats.org/officeDocument/2006/relationships/theme" Target="/ppt/theme/theme1.xml" Id="R0edc3abc0ebf4b2f" /><Relationship Type="http://schemas.openxmlformats.org/officeDocument/2006/relationships/notesMaster" Target="/ppt/notesMasters/notesMaster1.xml" Id="R16bc379db0e546d7" /><Relationship Type="http://schemas.openxmlformats.org/officeDocument/2006/relationships/presProps" Target="/ppt/presProps.xml" Id="R021808bbb4164ff8" /><Relationship Type="http://schemas.openxmlformats.org/officeDocument/2006/relationships/viewProps" Target="/ppt/viewProps.xml" Id="Rbe1e72c7729e41bb" /><Relationship Type="http://schemas.openxmlformats.org/officeDocument/2006/relationships/tableStyles" Target="/ppt/tableStyles.xml" Id="R4bff86a662474235" /><Relationship Type="http://schemas.openxmlformats.org/officeDocument/2006/relationships/slide" Target="/ppt/slides/slide1.xml" Id="Rd1d328fa5d5b40fb" /><Relationship Type="http://schemas.openxmlformats.org/officeDocument/2006/relationships/slide" Target="/ppt/slides/slide2.xml" Id="Rc2efa2de18f5460e" /><Relationship Type="http://schemas.openxmlformats.org/officeDocument/2006/relationships/slide" Target="/ppt/slides/slide3.xml" Id="R56f42c16c98c4563" /><Relationship Type="http://schemas.openxmlformats.org/officeDocument/2006/relationships/slide" Target="/ppt/slides/slide4.xml" Id="R5a0d756f252a432e" /><Relationship Type="http://schemas.openxmlformats.org/officeDocument/2006/relationships/slide" Target="/ppt/slides/slide5.xml" Id="Rc5b78b6290c94701" /><Relationship Type="http://schemas.openxmlformats.org/officeDocument/2006/relationships/slide" Target="/ppt/slides/slide6.xml" Id="R04c2adf126184388" /><Relationship Type="http://schemas.openxmlformats.org/officeDocument/2006/relationships/slide" Target="/ppt/slides/slide7.xml" Id="Rad432d8aeb384de8" /><Relationship Type="http://schemas.openxmlformats.org/officeDocument/2006/relationships/slide" Target="/ppt/slides/slide8.xml" Id="Rb662eafd99d74ab1" /><Relationship Type="http://schemas.openxmlformats.org/officeDocument/2006/relationships/slide" Target="/ppt/slides/slide9.xml" Id="R3ccfdddd8ec44c5b" /><Relationship Type="http://schemas.openxmlformats.org/officeDocument/2006/relationships/slide" Target="/ppt/slides/slide10.xml" Id="R6f61f54cf3d64b11" /><Relationship Type="http://schemas.openxmlformats.org/officeDocument/2006/relationships/slide" Target="/ppt/slides/slide11.xml" Id="Rd4f25758657a45f6" /><Relationship Type="http://schemas.openxmlformats.org/officeDocument/2006/relationships/slide" Target="/ppt/slides/slide12.xml" Id="R82513bf6c7df4236" /><Relationship Type="http://schemas.openxmlformats.org/officeDocument/2006/relationships/slide" Target="/ppt/slides/slide13.xml" Id="R2eb91fbc80e844b9" /><Relationship Type="http://schemas.openxmlformats.org/officeDocument/2006/relationships/slide" Target="/ppt/slides/slide14.xml" Id="R75c3268b5b89429c" /><Relationship Type="http://schemas.openxmlformats.org/officeDocument/2006/relationships/slide" Target="/ppt/slides/slide15.xml" Id="Rfb9c01edab75492e" /><Relationship Type="http://schemas.openxmlformats.org/officeDocument/2006/relationships/slide" Target="/ppt/slides/slide16.xml" Id="R8d549f7544ed49c0" /><Relationship Type="http://schemas.openxmlformats.org/officeDocument/2006/relationships/slide" Target="/ppt/slides/slide17.xml" Id="Read1562574564199" /><Relationship Type="http://schemas.openxmlformats.org/officeDocument/2006/relationships/slide" Target="/ppt/slides/slide18.xml" Id="R6555ea88753346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3e93fbc0c9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aa147b1c524671" /><Relationship Type="http://schemas.openxmlformats.org/officeDocument/2006/relationships/notesMaster" Target="/ppt/notesMasters/notesMaster1.xml" Id="R02ba680f43b244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a37b04e9be4fcb" /><Relationship Type="http://schemas.openxmlformats.org/officeDocument/2006/relationships/notesMaster" Target="/ppt/notesMasters/notesMaster1.xml" Id="R0371f858866d4d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59bb34cf7485b" /><Relationship Type="http://schemas.openxmlformats.org/officeDocument/2006/relationships/notesMaster" Target="/ppt/notesMasters/notesMaster1.xml" Id="Ra9953d6dbf75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d6fc11e005495b" /><Relationship Type="http://schemas.openxmlformats.org/officeDocument/2006/relationships/notesMaster" Target="/ppt/notesMasters/notesMaster1.xml" Id="Rb816533698c345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0f09035b04dc0" /><Relationship Type="http://schemas.openxmlformats.org/officeDocument/2006/relationships/notesMaster" Target="/ppt/notesMasters/notesMaster1.xml" Id="Re314a1d0166149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d10dca90d84f14" /><Relationship Type="http://schemas.openxmlformats.org/officeDocument/2006/relationships/notesMaster" Target="/ppt/notesMasters/notesMaster1.xml" Id="R94f92411758f48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83571406574a5d" /><Relationship Type="http://schemas.openxmlformats.org/officeDocument/2006/relationships/notesMaster" Target="/ppt/notesMasters/notesMaster1.xml" Id="Rb4bf170abfa148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792b0dd66e4709" /><Relationship Type="http://schemas.openxmlformats.org/officeDocument/2006/relationships/notesMaster" Target="/ppt/notesMasters/notesMaster1.xml" Id="R8e1924bc988c43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c6f124712b4708" /><Relationship Type="http://schemas.openxmlformats.org/officeDocument/2006/relationships/notesMaster" Target="/ppt/notesMasters/notesMaster1.xml" Id="R48660d575fc441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6fe5430f5a4ee8" /><Relationship Type="http://schemas.openxmlformats.org/officeDocument/2006/relationships/notesMaster" Target="/ppt/notesMasters/notesMaster1.xml" Id="R24faca738f0c47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f73711b9c848b5" /><Relationship Type="http://schemas.openxmlformats.org/officeDocument/2006/relationships/notesMaster" Target="/ppt/notesMasters/notesMaster1.xml" Id="Rac84fdbb27b742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b7060cf0c74e20" /><Relationship Type="http://schemas.openxmlformats.org/officeDocument/2006/relationships/notesMaster" Target="/ppt/notesMasters/notesMaster1.xml" Id="R5e43e2b4ccb841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c05f7eca16441e" /><Relationship Type="http://schemas.openxmlformats.org/officeDocument/2006/relationships/notesMaster" Target="/ppt/notesMasters/notesMaster1.xml" Id="Rd1406396a3cc4b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9d788d37914de5" /><Relationship Type="http://schemas.openxmlformats.org/officeDocument/2006/relationships/notesMaster" Target="/ppt/notesMasters/notesMaster1.xml" Id="R45e83f02630643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18ff7b8720476c" /><Relationship Type="http://schemas.openxmlformats.org/officeDocument/2006/relationships/notesMaster" Target="/ppt/notesMasters/notesMaster1.xml" Id="Ra7496e0605a347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13c98400d04bbf" /><Relationship Type="http://schemas.openxmlformats.org/officeDocument/2006/relationships/notesMaster" Target="/ppt/notesMasters/notesMaster1.xml" Id="R064d4c426ce24b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59383ff1714b96" /><Relationship Type="http://schemas.openxmlformats.org/officeDocument/2006/relationships/notesMaster" Target="/ppt/notesMasters/notesMaster1.xml" Id="Rb0d96fd905c541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311a83922443e6" /><Relationship Type="http://schemas.openxmlformats.org/officeDocument/2006/relationships/notesMaster" Target="/ppt/notesMasters/notesMaster1.xml" Id="R7a4a94e3ff704c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735223c6d4d1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782637c14d6409b" /><Relationship Type="http://schemas.openxmlformats.org/officeDocument/2006/relationships/slideLayout" Target="/ppt/slideLayouts/slideLayout2.xml" Id="R26f12b56a31745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12b56a31745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65950af6ea45c0" /><Relationship Type="http://schemas.openxmlformats.org/officeDocument/2006/relationships/image" Target="/ppt/media/image.png" Id="Rec598137c09c40d7" /><Relationship Type="http://schemas.openxmlformats.org/officeDocument/2006/relationships/notesSlide" Target="/ppt/notesSlides/notesSlide1.xml" Id="R93a95f70eecc44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34a23796714164" /><Relationship Type="http://schemas.openxmlformats.org/officeDocument/2006/relationships/notesSlide" Target="/ppt/notesSlides/notesSlide2.xml" Id="R14c40a333f3e48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a7e5a2f314f4f" /><Relationship Type="http://schemas.openxmlformats.org/officeDocument/2006/relationships/notesSlide" Target="/ppt/notesSlides/notesSlide3.xml" Id="R8d38ccb6e8f340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9afdd894047ad" /><Relationship Type="http://schemas.openxmlformats.org/officeDocument/2006/relationships/image" Target="/ppt/media/image2.png" Id="R282b780859824a2e" /><Relationship Type="http://schemas.openxmlformats.org/officeDocument/2006/relationships/image" Target="/ppt/media/image3.png" Id="R4a1a5ab5e50d4189" /><Relationship Type="http://schemas.openxmlformats.org/officeDocument/2006/relationships/notesSlide" Target="/ppt/notesSlides/notesSlide4.xml" Id="R866ddc57956e45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c54024f474572" /><Relationship Type="http://schemas.openxmlformats.org/officeDocument/2006/relationships/notesSlide" Target="/ppt/notesSlides/notesSlide5.xml" Id="Rdb1122065bf54b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cb106d18b4215" /><Relationship Type="http://schemas.openxmlformats.org/officeDocument/2006/relationships/notesSlide" Target="/ppt/notesSlides/notesSlide6.xml" Id="R01a058f1a3a940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2ef7a07ec842b0" /><Relationship Type="http://schemas.openxmlformats.org/officeDocument/2006/relationships/image" Target="/ppt/media/image4.png" Id="R345c5177311e460e" /><Relationship Type="http://schemas.openxmlformats.org/officeDocument/2006/relationships/image" Target="/ppt/media/image5.png" Id="R79379656ed40445a" /><Relationship Type="http://schemas.openxmlformats.org/officeDocument/2006/relationships/notesSlide" Target="/ppt/notesSlides/notesSlide7.xml" Id="Reb8e780186a0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25b2859544023" /><Relationship Type="http://schemas.openxmlformats.org/officeDocument/2006/relationships/notesSlide" Target="/ppt/notesSlides/notesSlide8.xml" Id="R7a749b826a2944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3a72ad66c4d1e" /><Relationship Type="http://schemas.openxmlformats.org/officeDocument/2006/relationships/notesSlide" Target="/ppt/notesSlides/notesSlide9.xml" Id="R6f7efa3aea444a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f97ca513a4b16" /><Relationship Type="http://schemas.openxmlformats.org/officeDocument/2006/relationships/image" Target="/ppt/media/image6.png" Id="R7398559bdaa0451e" /><Relationship Type="http://schemas.openxmlformats.org/officeDocument/2006/relationships/image" Target="/ppt/media/image7.png" Id="R8c1b8164f6924781" /><Relationship Type="http://schemas.openxmlformats.org/officeDocument/2006/relationships/notesSlide" Target="/ppt/notesSlides/notesSlide10.xml" Id="R90101b7cc0fe4f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897de0c714368" /><Relationship Type="http://schemas.openxmlformats.org/officeDocument/2006/relationships/image" Target="/ppt/media/image8.png" Id="Rdc831b6327d44a0f" /><Relationship Type="http://schemas.openxmlformats.org/officeDocument/2006/relationships/image" Target="/ppt/media/image9.png" Id="Rfaafdde6afee4c51" /><Relationship Type="http://schemas.openxmlformats.org/officeDocument/2006/relationships/notesSlide" Target="/ppt/notesSlides/notesSlide11.xml" Id="R9df2d985c79b4b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953574498d4dcf" /><Relationship Type="http://schemas.openxmlformats.org/officeDocument/2006/relationships/image" Target="/ppt/media/image10.png" Id="R2eef384b6c5b4c05" /><Relationship Type="http://schemas.openxmlformats.org/officeDocument/2006/relationships/image" Target="/ppt/media/image11.png" Id="R35236a677e14489f" /><Relationship Type="http://schemas.openxmlformats.org/officeDocument/2006/relationships/notesSlide" Target="/ppt/notesSlides/notesSlide12.xml" Id="Rd382a2b7e154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d7d32b1864f02" /><Relationship Type="http://schemas.openxmlformats.org/officeDocument/2006/relationships/image" Target="/ppt/media/image12.png" Id="Rf7ad6bdada274e76" /><Relationship Type="http://schemas.openxmlformats.org/officeDocument/2006/relationships/notesSlide" Target="/ppt/notesSlides/notesSlide13.xml" Id="Rb5cc7748c79f41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71843a5c2e4031" /><Relationship Type="http://schemas.openxmlformats.org/officeDocument/2006/relationships/image" Target="/ppt/media/image13.png" Id="Rf40a5c44b44a47dc" /><Relationship Type="http://schemas.openxmlformats.org/officeDocument/2006/relationships/notesSlide" Target="/ppt/notesSlides/notesSlide14.xml" Id="R89dd589d956845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fd60b16aa04f0b" /><Relationship Type="http://schemas.openxmlformats.org/officeDocument/2006/relationships/notesSlide" Target="/ppt/notesSlides/notesSlide15.xml" Id="Rb696a2b5952846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8ca698a32475b" /><Relationship Type="http://schemas.openxmlformats.org/officeDocument/2006/relationships/image" Target="/ppt/media/image14.png" Id="R9e4f41631b8e4267" /><Relationship Type="http://schemas.openxmlformats.org/officeDocument/2006/relationships/notesSlide" Target="/ppt/notesSlides/notesSlide16.xml" Id="R8f5397f146014c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5d5eba1384f2f" /><Relationship Type="http://schemas.openxmlformats.org/officeDocument/2006/relationships/notesSlide" Target="/ppt/notesSlides/notesSlide17.xml" Id="R133f01a53c7f41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c37d6aa0584daf" /><Relationship Type="http://schemas.openxmlformats.org/officeDocument/2006/relationships/notesSlide" Target="/ppt/notesSlides/notesSlide18.xml" Id="Rdf5462c378644b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C2E44-31DB-41C3-A0BD-A8B36B5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98137c09c40d7"/>
          <a:srcRect xmlns:a="http://schemas.openxmlformats.org/drawingml/2006/main" l="19710" t="0" r="197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0"/>
            <a:ext cx="73818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6B194-479C-4C56-9063-8224A49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D3E85-1894-412D-9FB4-58B476F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9BD21-BC1A-4E95-BB77-D5369E5A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机器学习与实践 · 课程大作业答辩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8FEAB-26D0-416D-A95F-CF0B710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714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基于传统机器学习的</a:t>
            </a:r>
          </a:p>
          <a:p xmlns:a="http://schemas.openxmlformats.org/drawingml/2006/main">
            <a:pPr algn="l">
              <a:def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情绪日记五分类系统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C3B35-A1CE-4B08-BBCC-86A8B12B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30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研究目标：在保留 Django 情绪日记应用的前提下，构建可离线复现、可解释、可落地的中文日记情绪识别内核。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845B5-14E6-4CA1-B52F-BBD8A896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87E3F-E542-4A9B-9D84-8982B73F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jieba 分词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CB5CE-6E11-418C-90DE-8693E6C2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83880-91DC-4214-86BE-7072940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76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TF-IDF 稀疏特征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6F69A-25BC-4270-99BA-A3309216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194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F8F8C-A481-4C8D-ADAE-84FB612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766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867AB-1C8A-42F4-B3CC-2FFEE1F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39AB5-C3C5-439B-82BA-B09F6F34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8CE23-4F5D-483A-9C28-961AB8A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E8A5E-1ED5-4199-94DD-FDBB1AE1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为什么要从外部在线模型迁移到本地五分类？如何证明数据、特征、模型、系统四个环节是闭环而不是孤立实验？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304EE-66A9-4C58-A85D-7C9B852B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37947-131E-47FA-B85E-DFB3C904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3D3A2-BB9C-4CD2-805E-CF51B93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五分类标注样本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A0711-85C5-43DA-A264-4ACD1C0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train/valid/test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AA68F-5329-4AA0-9187-7F63DC3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E5694-B405-4FB9-9EA8-30AB86DA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7F7A3-95D2-4945-BBE0-B24EC088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 特征维度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B776D-5DA4-4CE2-AE4D-5394772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unigram+bigram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36308-890B-4417-A29E-B37DDC57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10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A7394-D156-4C0D-B643-1786E94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815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52AD7-D469-43F5-A512-CB145A13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149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 Macro 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BF748-43B5-49F4-92FF-9271B490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768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E7255-E2BB-44B9-BE86-8B6B789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30E40B-0635-468F-9F2A-ACE3DB10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封面视觉：image generation / image 2.0 路线；图表证据均来自本项目实验产物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FBCC6-DEED-4BCE-90AE-4B04A71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32780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25B1C-4AB4-45C2-A3A4-534B3A51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D9DCA-A11A-4F88-BF6D-6D0F9A8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A5579-C7B0-4EFC-8C14-F9932425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52CBF6F-BB78-4010-93A5-8B591B67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1D1473BB-54F7-4736-86A8-14A83F1A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PROBLEM 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3429F-13E5-4BF2-840C-A35517E6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答辩的核心问题：不是“能不能分类”，而是能否在课堂环境中稳定复现并服务真实日记流程。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C193-7EA9-4A11-AF5E-7434AA27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E085-1946-4367-8077-009D7B91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C6584-2BA2-4A38-8ED4-E828DFE1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现实约束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51015-7BFD-43C8-B3AB-EF6FA5B0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原项目已有 Django 页面与趋势记录，但情绪识别依赖外部接口；课堂演示时网络、模型缓存、版本兼容都会影响结果。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025D7-9F84-4244-AD9E-C83E0E97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DE95A-8EFF-462D-B77A-AEE55413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028D-E6EE-464E-9CB7-31ABACFE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任务重定义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F5EA0-E01A-4115-9C38-0646148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将用户输入的中文日记文本划分为：难过、焦虑、生气、平静、开心五类，并同步生成趋势分值与建议语句。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0EC2E-DC37-47B7-A02E-37A5BC4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9B080-08B4-49C9-9361-D316848A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2A4E3-B6D6-4F8B-8186-8BA428E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评价标准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AD197-50B1-422A-B17F-6360E68B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990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既看整体准确率，也看 Macro F1，避免多数类别掩盖少数类别；同时检查误差边界和 Django 集成可用性。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D6752-5D0E-43DB-93D6-FB3938C7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A258A-C7AB-4553-BEC3-ED7F51A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H1：短文本情绪表达具有可由词项和词组捕捉的稳定信号。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83750-B6EC-4DBE-9C94-780406CA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E4CCD-5740-40C1-AAB8-6577224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H2：TF-IDF 高维稀疏特征与线性分类器匹配，能在小样本课程项目中取得足够可靠的效果。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49736-88CA-4FCE-842A-D291D87C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0C0CD-F058-4D19-9C70-B413EB4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9734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研究假设 H3：模型必须进入 Web 业务链路，才算完成“实践”，不能停留在离线 notebook。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09A66-27E4-4A97-A473-A18100A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F5700-1BB6-45D8-B731-95A8FBF7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9DF145-F635-40A0-9E08-FED5E7F8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目标类别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F2BF5-884B-42FE-BA84-A011F55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sad/anxious/angry/calm/happy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10546-2AC0-43E7-86E5-D2FC408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0E42B-FF40-4CBF-978C-4F3CA590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EC221C-BF2E-4E46-B3D0-D801CF1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在线推理依赖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077D39-3B79-4765-A0C7-CB7AF480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joblib 本地加载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75F47A-EAEC-4748-B4EF-FEA8B0F1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BEA71-2586-4532-B256-7B9B87C8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21BC0-3A1B-46BF-A350-F3BEF8D3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统一预测入口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8DB9E7-B448-4D32-A89D-9B2FFC8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predict_emotion(text)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3B87A9-207A-4FA3-B6F2-F14F1487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8F8175-8C98-4DCE-94C5-36A9FCC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911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6A44D-EB27-46BC-BECC-82CC0F77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245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最终交付标准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1462F5-2394-440A-8AA9-3586361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864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数据→模型→Django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F5E349-402D-4A5E-961C-A1807FC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C18C1B-6813-4E8A-A294-4576F448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答辩口径：先定义评价问题，再解释为什么传统机器学习方案适合该约束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247170-C0F6-417B-AB03-8BD8F477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801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7D6BD-AE8B-4307-AEF9-42261D30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82260-4F5A-4A00-8868-FBFB2011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7033B-C68F-4E33-81A6-30148B5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AC8907B-C8BE-4316-8D04-9428683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69DA630-39D5-488A-8289-3FCAD8BF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CONTRIBUTION SPINE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9AD9C-CD3D-4696-B9AA-36A5817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本项目的贡献不是“调库跑模型”，而是把五分类任务做成可证明、可解释、可集成的工程闭环。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52B3B-A4DE-4A98-A84C-FF02456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BC8C4-F8F8-4B60-8B8F-CF0D9CE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5B2F5-CA1E-4394-9953-E613086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1：任务升级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A57D8-4896-47BF-A839-2F77D5E1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从原有粗粒度情感倾向升级为五分类情绪识别，单独补齐校园日记中高频但公开数据不足的“焦虑”类别。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A0457-A50C-4E03-AC00-8C0CDDEC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70036-C2DA-483F-A8B8-5E6B840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F4FA6-B553-4C2C-816C-88EC3332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2：可复现实验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10F54-5FF9-4216-8CDD-EB3B2E4C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明确数据来源、标签映射、分层切分、特征配置、模型选择规则，所有关键产物保存到 reports/artifacts。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2ECE7-77DA-40EE-97B8-EB283E61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2A3BC-41DC-44DC-9968-25DDB7E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86C60-80F8-49B2-A455-E66EA8D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3：可解释证据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2D613-0D45-4D65-948A-F6864406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展示标签分布、稀疏矩阵、Top TF-IDF 词、混淆矩阵和误分类对，证明模型行为可追溯。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D15AC-C987-4AE1-A8AF-A139196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238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ED44B-4209-41F9-B261-47436390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383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3AF0B-2345-4841-B3B4-065EE7E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贡献 4：系统落地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4C129-9A22-41D1-A7A0-F5FB5D53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038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通过 ml/predict.py 接入 Django；预测结果写入 MoodEntry，并参与趋势图和页面建议展示。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4B143-55DD-4866-B0DE-7246D57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81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26CA3-470A-439F-B43E-65375BC9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答辩逻辑链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0485E-83DC-48C0-89EE-59E6494A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43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问题约束 → 数据构建 → 预处理与特征 → 三模型验证 → 测试集确认 → 误差解释 → Django 集成 → 不足与改进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6AAB8-14FE-4B90-9D36-D13BB94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900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每个环节都对应一个可检查产物：CSV 数据、joblib 模型、PNG 图表、JSON 日志、Django 字段迁移和页面结果。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02422-2B55-438F-A8EA-CD5A72FA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643D7-0E46-4BA3-8608-82B97752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4EAA2-F449-456B-A7BD-42D557F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946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最终主张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E497D-E22A-494A-AE87-E9BEC768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946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在当前样本规模和课程复现约束下，TF-IDF + LinearSVC 是一个比外部在线模型更稳定、比复杂深度模型更可控、比无监督聚类更适合上线的方案。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FB254-8F58-4C61-B28C-344E8C3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48230C-25A3-4DEA-A03D-F64F2E5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证据链：README.md / report/*.md / ml/reports/*.csv,json,png / ml/artifacts/*.joblib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1046A-F378-40B0-BB87-F8D9E5C6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71701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792EB-79A2-4D33-B4A5-6DF60016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B6191-05CF-453C-944C-E6B2FAD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DD6E8-1C0D-4924-B47E-CE88794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DAC8FAE-9B38-40C4-BA41-6ED8BFE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B38B108-67EB-4DA9-8071-6C239922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CONSTRUCTION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2C33B-9EC5-4AAF-B880-0FEA665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数据集不是简单下载：公开多情绪语料提供底座，</a:t>
            </a:r>
          </a:p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校园焦虑样本补齐应用场景。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b780859824a2e"/>
          <a:stretch xmlns:a="http://schemas.openxmlformats.org/drawingml/2006/main"/>
        </p:blipFill>
        <p:spPr>
          <a:xfrm xmlns:a="http://schemas.openxmlformats.org/drawingml/2006/main">
            <a:off x="662750" y="1657350"/>
            <a:ext cx="4837175" cy="28098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a5ab5e50d4189"/>
          <a:stretch xmlns:a="http://schemas.openxmlformats.org/drawingml/2006/main"/>
        </p:blipFill>
        <p:spPr>
          <a:xfrm xmlns:a="http://schemas.openxmlformats.org/drawingml/2006/main">
            <a:off x="6790687" y="1504950"/>
            <a:ext cx="2706377" cy="3190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C2B8A-B24B-4AEF-810F-8F7F1B44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17708-20D6-45DC-8110-220E3961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公开数据：multi_emotion_dialogue 贡献 2710 条，是主体语义来源。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EB9C-88AE-49D6-A67A-3CD0F471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B1DA4-B07F-4DD3-B8F5-43D8070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人工增强：manual_balanced_augment 贡献 1000 条，用于缓解类别分布偏移。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CF2D0-77CA-4B75-9539-AAE8FC79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7CA42-5C50-498C-B3C8-BE4BBE0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校园焦虑：manual_campus_anxious 贡献 360 条，覆盖期末、答辩、DDL、导师、代码未完成等高频场景。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5C66A-0555-482C-BB0F-24B2F3FA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25DD3-CFD4-4D0F-A8F2-604FAE55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441D9-83BB-4AAF-B60C-817DF862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673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切分策略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470BE-32DA-4465-A4A1-D4A2B828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673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使用分层切分保证训练、验证、测试集中五类都保留样本；测试集仅用于最终报告，不参与模型选择。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EAFFD-95A1-4500-AC0A-0E0DF51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98AD0-9E68-4A97-A510-044A1362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1C521-31E2-40C8-BE75-3927F35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3EDB9-D523-4FEA-9CFD-57F07BCC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E4E49-6D7B-4996-9750-1EE534A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C58CD-24D0-4427-926C-2F570FD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0BFC1-696B-446A-BBF7-1672860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DE27F-77D4-4598-A2AE-5FBF1DE7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73411-C451-4210-9176-68E6A24C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10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A4CA0-B27B-419D-A775-1D33A41B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81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F696A8-CC45-43DF-BF42-B3C5AE5C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115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C9294C-7DE2-4C22-8D83-D2D133AE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276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D6C1E-4E13-4BD5-8577-9754413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7F67D-EB2B-4265-A7C2-2394270B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证据：emotion_labeled.csv / label_distribution.csv / data_source_distribution.png / split_label_heatmap.png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789BD2-9F8D-4945-94E8-7ADA8A0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00696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170B7-4D00-48C9-91FB-6D175DF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BEFBA-2D30-44F9-AEE7-903EC28B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C09D6-5B74-490B-98B2-736684EE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4D3BC359-27EC-4B17-BD66-0E89C5EA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74C8506C-EC3E-4B81-BB40-B6280D7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LABEL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2F7BE-BBC7-4579-940E-4DCAC34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标签体系必须先定义清楚，否则模型指标再高也无法解释业务含义。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40DC5-E002-45FC-B7D4-094C491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CF17E-AAC7-4A79-B101-3BBC1D83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C59AB-FAD4-4E0B-921B-BA594D1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859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中文情绪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9BE99-39A5-4819-BF0C-C2CE278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6859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emotion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6E21C-A2E9-4A30-8393-AA5401E0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6859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7154A-F5E9-4C9C-B3AA-8D925FF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859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5AD5C-64DE-478C-8868-D0C1A5A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46D8D-4FBF-4ED4-96F6-6AD90E93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74762-FA35-406F-80AD-18C3C7C8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88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FC1E8-1177-4EAC-8A5B-4236F7F9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288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0F483-9F70-4597-B670-DFBBFF7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288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F2109-8325-4651-8270-D39E9CF8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288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失落、伤心、孤独、低落、被拒绝、被忽视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0DBCB-DB3E-4978-A686-EDCF6331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038CC-E067-4D6C-9C5A-EB9DF782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F99BA-3322-4274-ABD6-94FA69C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717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4B021-C56D-4DBA-BFF3-5F7DE580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717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anxious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87D0B-92C8-432F-BD5E-61EC141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717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1C964-AF8E-4DB1-B658-2FB367D3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717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担心来不及、心慌、紧张、害怕考砸、对未发生的事过度担忧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850FB-A589-4ED8-A2A0-BE4D9329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99556-070A-4FF1-9521-22B054A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B4711-F6C7-44C3-A912-2C2BF9D7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146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029FE-E730-4B4B-B848-32BA57F2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146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angry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85D44-0806-4747-843E-4A82FE68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146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-2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E10DA-2A0B-4143-9DA9-88C5C1F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愤怒、不耐烦、被冒犯、烦躁、抱怨、厌恶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66AE0-C1DE-4AAE-8DDA-9A84FE72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5E4145-DA6B-4868-A3BB-13F71B0C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DD11C-74F4-42E4-B910-EBD2CDD2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575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ADA7A-2A79-4C79-80C1-1F4B1B8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575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calm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D0AD4-B126-482E-B212-B9BCA016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575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E6A2A-F812-41B8-8615-860F285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575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平静叙事、日常陈述、中性提问、节奏平稳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A7341-7553-43D6-93C2-FA70F243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9096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F8DC4D-83B9-40F8-BC40-A9E83AD8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326AAB-4D40-4E22-A21C-94D03F3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847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8E8E74-D110-45AA-9565-51A50B93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004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happy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F64DE2-9357-43B0-922D-182324EB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0425"/>
            <a:ext cx="609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+2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B51139-D4DE-45FA-A825-ED57260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00425"/>
            <a:ext cx="527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喜悦、成就感、放松、被支持、压力缓解、期待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B6B598-ECB6-44AC-A1C4-87EC49AA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DCE020-B3E4-4F6E-A81A-6898E37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9C7625-C0FD-469D-A371-C30D383E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映射原则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763EEC-AB9D-4677-A059-6DFB4C4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公开语料中的“开心、伤心、生气、厌恶、平静”进入五分类；惊讶、关心、疑问等非目标情绪删除；恐惧/担心/紧张若出现则归入焦虑。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C440CF-0AB9-4150-9074-7EB2A2FD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68B8F1-DA2C-4192-B5ED-EAA3A7B0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4A5C3B-D412-41CD-9F1A-61630860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为什么保留“焦虑”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00CE50-958A-4748-8A00-18C09AEA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2895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课程与校园日记场景中，焦虑不是普通负面情绪：它常与未完成任务、临近截止、考试答辩和项目压力相关，具有单独识别价值。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2697E9-9123-4A99-8B7C-6A2347B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1F87F1-B8E3-4D34-8CB8-33C076A3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D07048-CCF3-423D-92F0-92E91CA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15E8DE-7461-4F17-93E4-2F0241AB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51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过滤信息量极低文本、强反讽样本和重复改写；用分层切分减少类别缺失；后续用混淆矩阵检查边界。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192057-0975-496B-AA40-84614CE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15C805-5337-4048-BE08-25EE30E7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99F038-4913-4159-BC38-4B15690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B58D7B-3D38-4199-8240-82D07E2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43550"/>
            <a:ext cx="853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本项目不是把五个名字硬塞给模型，而是先定义可解释标签空间，再让数据、模型、数据库字段和趋势分值保持一致。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683E09-74AB-4924-B1E6-ED2B6DED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BEF1F3-466D-41EF-A77D-D97FA9A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证据：report/label_guide.md / ml/config.py / mood/models.py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48B984-2ED3-4FC8-BAB9-069F952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755652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D4FBA-9C86-4946-BE34-BD9525B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F6951-D9FB-4013-9E31-31C01A0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221AC-608F-4A5A-BF8A-B68E5CD1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360F99C4-49D5-46A3-BC3B-0FBD6116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F70D4FDE-3112-459C-952D-328E0BF9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BBC84-4DF7-4265-9848-EA7499E3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中文短文本预处理的关键不是复杂，而是训练阶段与预测阶段完全一致。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790EB-D53E-468F-A6BE-38C2851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33E7B-E541-4628-8DB9-837202F9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7EF26-704D-4B85-9128-EEC3DB27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清洗文本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664AB-ECD2-4015-98D4-264D655C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去空白、统一格式、清理极端噪声符号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F4F48-DF51-4D1E-8AB8-7FD0710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972A1-E7A2-4506-89D8-636B1B7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802C0-4330-4DF9-B3E9-1A180EB7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jieba 分词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92C7D-E14E-43EC-AEFF-C0B4B27E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精确模式；加载校园场景用户词典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0B0E2-57AD-46DF-8A09-D79EE288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C9A1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F6E95-BDE6-4C01-B8A0-E59C7437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E1F2D-3520-4937-8E04-E2FEF66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停用词过滤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A8A3F-8221-4249-908B-C71D8A7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去除虚词、标点和低信息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B236F-4B8C-4295-AC8F-CEBE6B5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1632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E69E6-F22E-474A-A041-CE56F462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F36073-6AB1-401B-BAF4-30C76485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空格拼接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28CB8-B870-4193-8029-F3313D82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 seg_text，供 TfidfVectorizer 直接读取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017A7A-BD93-4D56-B21D-08AEB5B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2EAF0-51DD-42D1-B759-FAF2A473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8827B-3462-474C-89C0-FF65BF8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716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预测复用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DD4666-D00E-4497-9CF2-C50A10E4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segment_for_prediction 与训练逻辑一致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BED66-46C2-4C9B-A1E5-83ED8F53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4762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34B8D-6BB6-4301-BED1-4BEBF2AB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分词示例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C1CAC-8C4D-4D6B-B9DF-08C52600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原文：明天就要答辩了，PPT 还没完全准备好，心里很紧张。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BB3AE-60BA-4482-83E0-58C17977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清洗+分词：明天 答辩 PPT 还没 完全 准备 好 心里 紧张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4CE68-EAE7-43AE-977F-665E992F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意义：保留“还没、准备、紧张、答辩”等能区分焦虑的词项，同时避免页面预测时与训练分词不一致。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06B11-68A4-4312-A3E7-B3495EC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762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AC6C0-39AC-4217-B250-2AAB468B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894518-16FB-49F0-94EC-0AF9AF4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97E89-F9D0-4936-8A17-334930AA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19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`ml/preprocess.py` 负责训练数据清洗与分词；`ml/predict.py::segment_for_prediction` 在 Django 预测时复用同一逻辑；用户词典与停用词集中放在 `ml/dicts/`。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F185CA-7975-48D4-9DB4-3256027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61A27-DCA6-4439-8CD1-6A134881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避免数据泄漏：向量器只在训练集 fit，验证/测试集只 transform。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44D4D2-4F2A-4EB5-A531-985B31E9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E4B6C-D0C5-4863-BA1B-234A970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6735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避免线上线下割裂：Django 提交文本时走同一套分词与向量化入口。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72A401-80E9-472A-8EAF-D66FE19F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1E89B0-77FB-464B-ABFA-6FD14C2A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避免不可复现：每个阶段输出 CSV/JSON/PNG 证据文件，便于复查。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97F670-8341-4EED-AC7A-443C6840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628876-E308-4E4E-8B47-9858D25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证据：ml/preprocess.py / ml/predict.py / ml/dicts/user_dict.txt / segment_preview.csv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894F68-5EC3-4A83-8BC6-8A129B4B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42585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08D39-4241-4923-B4CF-4102BFB7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FD6C9-A671-4FAF-AD3B-F99DFB33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BA1F6-111D-417A-995B-4E1FA00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1677F3A2-7B4B-4045-822A-045ADE32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F9BAA41F-C72D-464C-A6F5-E0D0FA67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FEATURE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E1D0A-BBD2-40C4-8732-2D6EC6E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TF-IDF 不是装饰性步骤：它把中文日记转成可解释、可复现、可稀疏计算的特征空间。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c5177311e460e"/>
          <a:stretch xmlns:a="http://schemas.openxmlformats.org/drawingml/2006/main"/>
        </p:blipFill>
        <p:spPr>
          <a:xfrm xmlns:a="http://schemas.openxmlformats.org/drawingml/2006/main">
            <a:off x="552450" y="1651336"/>
            <a:ext cx="6572250" cy="1945604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79656ed40445a"/>
          <a:stretch xmlns:a="http://schemas.openxmlformats.org/drawingml/2006/main"/>
        </p:blipFill>
        <p:spPr>
          <a:xfrm xmlns:a="http://schemas.openxmlformats.org/drawingml/2006/main">
            <a:off x="7410450" y="1672910"/>
            <a:ext cx="3714750" cy="213105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9A87C-25E8-4658-9B0D-B78EBBF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38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583FA-5352-40F5-8B6F-FC1B288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045D7-E7A1-4846-9172-3A638E7E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003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E2BF9-A083-4D3C-831B-7E515A28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03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TfidfVectorizer(tokenizer=str.split, lowercase=False, ngram_range=(1,2), max_features=8000, min_df=3, max_df=0.9)。训练阶段重新 fit 向量器，并与模型一起保存，避免向量器和模型不匹配。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BFD1E-5931-44E9-9C97-6EA66989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DD954-AA11-48BB-B3C9-5BC1029F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3436×3439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7652B-0448-4E75-BBE1-F8E07D08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训练矩阵形状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AA009-D9E3-4227-A76E-7829B2B5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0225"/>
            <a:ext cx="2000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样本 × 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C0EF6-2EBE-4BA9-B135-D219985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B4823-DAEE-47BC-B7A5-22DF9738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46989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72465-597D-4B10-86E1-EF6357D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非零元素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1274F-3910-47FD-AD50-E9534445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总元素 &gt; 1181 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81147-5D08-4DBC-9295-23430D43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B344B-454D-434D-AF2F-AFD222E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99.60%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8890D-D734-4FBF-A5AC-0179B7C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训练稀疏率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DB906-1730-4C1C-A286-32B6D54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sparsity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0ADF9-8135-4C72-B162-1F2D9A7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43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29601-CC49-4331-AE58-F1F14CFB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13.68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E379C-C50E-459A-B742-C9B42990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平均非零特征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A3FD93-B645-4853-A0CD-CA7AFC3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per sample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B5134-8F55-4BF7-9E4D-1AB44825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0EEA1-B619-4F8C-8F12-4EB50B0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证据：tfidf_sparse_matrix_spy.png / nonzero_feature_distribution.png / sparse_matrix_stats.csv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CEDB5-224D-47A2-A394-C3CD6121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5621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21824-7908-4DEC-BF47-C10E831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24AA-970D-4C25-9EF7-64E50846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9903F-CA5E-466B-A4E4-2E727D83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2CCF772A-1A59-4994-8058-D5A4D071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910B981-8E9D-4209-ACD0-FDDC6DF4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MODEL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D8F5D-E102-4907-A061-8656F802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模型选择遵循“先可解释、再比较、最后落地”的原则，</a:t>
            </a:r>
          </a:p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而不是盲目追求复杂度。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0C43-E3F3-49B8-B999-7BA94495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B45AB-2FB6-47EC-A45C-1D01460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917CE-2F94-4EDB-8604-A8FFD99B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2402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49F10-544B-4E22-B892-B1C4AA56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72402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1BEE3-8017-4572-9893-3E2AAD5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2402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2C6C2-7F4F-43AE-8BD4-AD1873CE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4B175-36CE-4E98-A0C7-8A9CEBBC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MultinomialNB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52997-A2F5-4312-BACE-AF1F614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2407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词项条件独立，适合计数/概率式文本分类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26F40-29A7-472E-9706-598B1033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2407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训练极快、基线清晰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3439C-C1D1-4BE9-BD48-4B88EF93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2407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无法充分利用复杂边界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E59D7-CFB8-4709-8507-2B890F6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B6810-E9A4-40C3-9DAB-CA207E2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LogisticRegression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75A70-D139-4194-AF99-9E180AD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线性可分概率模型，权重可解释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85E8F-3BCE-49E3-BA72-898D78F8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2412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稳定、可输出概率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0BD2E-EAD6-41C4-AF38-E26EAB0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训练时间略高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9B1E4-2D76-4BFE-BFCC-446B8B5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32E9D-3D31-4B5E-8C2C-EA96DF1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F3D85-A4F4-40E8-AB3B-E912B75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24175"/>
            <a:ext cx="3324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在高维稀疏空间寻找最大间隔超平面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FDE5F4-4E73-4AFD-B031-678EBBE4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24175"/>
            <a:ext cx="26574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适合 TF-IDF 稀疏文本，泛化强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25DC7-8121-421B-94CA-B539CAC9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24175"/>
            <a:ext cx="2419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置信度需额外校准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36244-BE41-4B96-9D1D-20DC8F8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46505-95FF-4F45-A1FD-B0AEAF3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506D7-1F10-494F-A489-BAE2D7A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为什么不是深度模型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36F2F-14FD-442A-AC7A-8C422392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样本量、课堂复现、离线演示和依赖安装都要求方案轻量。深度模型可以作为未来方向，但不应成为当前系统的最小可靠方案。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E7E010-C37F-441C-BCDE-15352682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85489-BA6E-41A8-80A7-18A621F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0DBB8E-BA79-4C77-921E-573515BD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为什么强调 Macro F1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3B0BE5-5677-4545-A2F9-78CCB99B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6240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五分类中每类支持数不同；只看 Accuracy 可能掩盖焦虑、开心等较小类别的错误，因此主排序使用 Macro F1。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C1B23F-DF33-4FD8-8279-985AEA99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6F2CA-295C-4B7A-96AD-78E7255E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9618E-28E4-4333-884E-DF5E4890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模型选择规则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2E2F77-A659-4057-879A-21A80CCD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51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 Macro F1 优先；若差距在 ±0.005 内，再比较 weighted F1、accuracy 和模型偏好。测试集只做最终确认。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E09B9-452D-440A-BC5A-FF1035C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1032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D83128-961C-4302-BF60-886F92C7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7E1218-C40A-42AE-A79E-6592FC29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BEE058-0044-4A09-BDF1-69C6C245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本项目的模型选择不是“哪个库更高级”，而是在高维稀疏文本、可复现课堂环境和 Django 集成成本之间取得工程上可解释的平衡。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F60EBA-814A-4F08-9937-18578F16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8960A3-5000-4557-9F9F-E4DF73DF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证据：ml/train_model.py / best_model_info.json / train_log.json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203F04-4A37-4ED6-A54E-D8348F6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60390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82FCC-7231-4BB9-9CF0-46B66B8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0566C-09D3-438A-94DC-1182814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D6ABD-C916-47C2-80C2-AB3542A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2D5BC93-CEE7-4A6B-A4EC-80392792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00AD3024-58B4-40A8-8697-A5CDA412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EXPERIMENTAL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0F057-1236-4213-AD1F-1B201B3F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实验设计的重点是防止“看过测试集再调参”，因此验证集和测试集承担不同角色。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AC4E-55F7-40BA-A2CE-C6978929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6317C-C94E-4FA4-B51C-6474282B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30865-9A80-479D-AAAD-4ED9B6ED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7240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49395-7F44-4300-8BF3-151961D7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240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E6235-F17C-49BC-B61E-C8FF9026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240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422FE-8F90-4EF4-B366-8AAC4BD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AEFC4-6AB6-4D9D-A7DA-7B93A4D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数据切分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9008C-B03A-4B9B-BC56-6BE5860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669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emotion_labeled.csv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EE605-B2EF-4526-A97D-23924EB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669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按 label 分层切分 8:1:1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05BA8-B22E-47F4-BB48-C32F727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label_distribution.csv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7FD32-5150-4A57-9915-2A164DD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EC75A-54C0-486E-B731-A5FB922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98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特征工程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A2D65-958E-4FD5-A169-B9F848F8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98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train/valid/test_segmented.csv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4A381-8B27-4979-93F3-686A548E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98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fit 训练集向量器，valid/test 只 transform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53391-3974-4EC4-BD92-09C1B027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98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tfidf_vectorizer.joblib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4CE2B-20B2-4104-A42C-903F05C3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D58C4-40B1-45DE-9B2C-F4F41B91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F21A0-0844-4783-84CE-5514C08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527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训练集 TF-IDF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5E4D0-74C4-4FDF-BCD5-3C564E07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527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训练 NB、LR、LinearSVC 三个模型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2A51D-8C9F-4ED5-8775-480A490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7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train_log.json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1A338-FEF1-4FFC-8C94-F1E1419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9AF50-D925-4D0C-888C-E3B09895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801AD-C788-480B-ABE8-2BA56570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956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验证集指标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1B1A2-FE7A-4CE7-A506-11A3DCAC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956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以 Macro F1 为主，记录 tie-break 规则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92A39-361D-44DB-87DD-A162079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956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best_model_info.json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CDFC7-BE3F-4FFF-9F65-F43D6523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7E629-2FC8-41F7-AAA6-2457CE48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最终评估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CC637A-CCED-4660-9683-09DFA8C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38525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测试集 430 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A9961-392E-4EB4-A963-258DB088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38525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只评估一次，输出混淆矩阵和误分类表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AF216B-3D23-4E2F-A175-DE7613D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evaluation_log.json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0B6D2B-6F80-4FCD-B0D1-41AEE7C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439ECF-99C8-4F92-B1A6-01AA9785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评估指标：Accuracy、Macro F1、Weighted F1、Macro Precision、Macro Recall、predict_ms_per_sample。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99D023-C441-4D41-B99B-66758F1C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7FB81D-9A14-4602-8584-A69B970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公平性控制：三个模型使用同一套 TF-IDF 特征，避免模型差异被特征差异污染。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1331BE-6F29-4EFD-87BB-CA29D4A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B3107B-7967-4FF1-AFEA-B5F27869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复现控制：关键参数、环境版本、模型路径、向量器路径均写入 JSON 日志。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6D4341-1B77-4442-9699-4EDB61B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ACF3FB-5322-4451-90B1-68B13BE3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D6DD8C-C57D-467E-8AB1-BA031BE2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监督模型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50D87C-DC69-4F12-BF85-F4E492A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NB / LR / SVM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5C9C8E-E8B6-48D6-8534-A193471C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6407F9-3A5B-4EBD-8FFF-EE082B1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BE44A3-6A2C-45F9-AD60-BEA64276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主模型规则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634C41-B521-44A9-B285-79EF43D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validation Macro F1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FEB55E-3E15-4633-B883-CA86F38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90A339-A1E8-4038-8537-8FD3A3BC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430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CA97CE-CD57-4143-B948-2BDCFCDA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最终测试样本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FCF4CD-5D98-453F-84A5-E0D5441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只用于最终报告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98C2DE-F0A8-4BAB-BB7D-478A3B31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340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6587E2-B4A1-45F9-8713-14AAB3A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0542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可复查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87504F-B97E-4B36-816B-D5E83AB6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6388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实验产物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36238E-1296-4BD1-AF7B-FE3A7247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80072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csv/json/png/joblib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13693C-D466-45D2-97F6-00A4FD85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9AA7EE-3DE6-45D5-A220-A339F3DD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证据：split_dataset.py / feature_engineering.py / train_model.py / evaluate_model.py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A4A341-CF21-4A74-A3C6-223CDC9E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04290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C46B5-2923-43C9-BD4C-D51F0467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7C160-B6D4-49B2-A30E-D448D83D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20D54-F4D1-4B5B-BE69-18FD9769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022FBF3-DCBA-48E6-A8D5-E0A5D4A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9726419-316F-4A7C-8F4C-2E0D2D87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VALIDATION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3A2C5-04D3-414B-A5D0-7454597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验证集结果显示 LinearSVC 在宏平均 F1 上领先，且训练成本仍保持轻量。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8559bdaa0451e"/>
          <a:stretch xmlns:a="http://schemas.openxmlformats.org/drawingml/2006/main"/>
        </p:blipFill>
        <p:spPr>
          <a:xfrm xmlns:a="http://schemas.openxmlformats.org/drawingml/2006/main">
            <a:off x="655679" y="1524000"/>
            <a:ext cx="5403767" cy="304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b8164f6924781"/>
          <a:stretch xmlns:a="http://schemas.openxmlformats.org/drawingml/2006/main"/>
        </p:blipFill>
        <p:spPr>
          <a:xfrm xmlns:a="http://schemas.openxmlformats.org/drawingml/2006/main">
            <a:off x="6524625" y="1691397"/>
            <a:ext cx="4333875" cy="267510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60C35-A0B9-48D0-958C-809822F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136D5-0EA7-4B54-898B-FD7FD58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76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83519-DC31-4DEB-BECE-3CA28CA2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 验证 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6EE7B-687F-4A59-817B-0A5216A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验证集 429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B0CCF-279C-40BB-904D-03B28F7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8025F-F4A2-49A6-88AA-FA3DDB6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76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0.9032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C0434-2A24-493A-AC05-26521E8B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LR Macro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7AD73-666F-456F-9099-C52D606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次优模型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86668-C06B-4EEC-BFD4-C93820B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541CF-38DF-4F36-B6F3-5B92856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0.0178s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4721E-ED4A-4C50-88C4-E0B5DB5C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101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SVM 训练耗时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81B80-D2FF-4CF8-89B7-6E2835DA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当前数据规模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10569-EAE2-4FC0-BFFA-1C0B9A9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8379D-FE32-42D3-B8D2-18A38FE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131A7-DFE7-42BA-AC4B-AC318FC5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9149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FE11C-3C64-4A8B-A4E6-F9D978D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006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同时满足：验证指标最高、训练耗时可接受、预测速度接近实时。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780E0-D433-450D-9C48-B19932A4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4FB94-572D-404C-B16A-61610936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NB 速度最快，但验证 Macro F1 低于线性判别模型。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532D8-3A8E-4921-BE27-91E5043A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3671F-5525-452F-B9A4-E4744ACD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LR 具有概率解释优势，但当前验证集指标略低。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6038A8-36F3-46A3-AA5F-FF608CDD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29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AB1D4-63FA-4028-9DC1-4B821CE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963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与 TF-IDF 稀疏空间匹配，作为主模型更稳。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A37F4-559F-47BC-BAB6-8623CD79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A6921D-EAAB-4C97-A3A3-B317D9E9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证据：train_log.json / validation_metrics_compare.png / training_time_compare.png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37BD8E-1C48-489F-89F6-AA0C170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24556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5FCC9-8447-4853-A97B-87334894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CC8F9-DE02-4C7D-AD98-F5417FD1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C640B-FE38-4494-AB4B-C28491F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59BC5647-A458-4695-8327-4C28D5A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6C049EF7-5082-4607-9B76-04527C7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TEST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10A4D-34A2-4EA4-9CD0-68966C40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最终测试集确认：LinearSVC 不只在验证集领先，在保留测试集上也取得最优综合指标。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31b6327d44a0f"/>
          <a:stretch xmlns:a="http://schemas.openxmlformats.org/drawingml/2006/main"/>
        </p:blipFill>
        <p:spPr>
          <a:xfrm xmlns:a="http://schemas.openxmlformats.org/drawingml/2006/main">
            <a:off x="683419" y="1504950"/>
            <a:ext cx="5072063" cy="2857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fdde6afee4c51"/>
          <a:stretch xmlns:a="http://schemas.openxmlformats.org/drawingml/2006/main"/>
        </p:blipFill>
        <p:spPr>
          <a:xfrm xmlns:a="http://schemas.openxmlformats.org/drawingml/2006/main">
            <a:off x="6191250" y="1646464"/>
            <a:ext cx="4238625" cy="242207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2BD06-360C-4D69-89C4-78630F5F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307EB-8678-4B85-94E7-5AE0015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957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7174F-772F-4C87-80EB-86D0E55F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230BE-764C-4088-BD5B-73D35D25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58F18-7ED9-4A86-B3E8-8AEB523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3B077-558C-476A-9ECA-E6CEBCDC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957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92AE5-7073-4E39-94BB-D156D922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958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88E1C-F6C5-408F-A0CF-99F6377D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624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C9866-A797-4ABB-A6B9-8FD0BA5A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18835-7BF5-4673-AC11-99DDE00B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0.8851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9A3E37-C6BB-4FF4-88B4-5D110F6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1A564-C6D1-49A7-848B-9309698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624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87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05060-768C-487F-A51F-027664C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2E1D1-CB2B-4E56-88E6-DF54440E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291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C21A9-7B13-48CD-BB8A-6D0EB55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0.9483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6DB0F-C4E8-47D1-84DF-A82447CE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0.9821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FBE93-8363-46A2-9EB7-B4BE909D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0.9649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D457C-6DE3-40BC-AA11-8FDC751C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8291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A66898-306A-468A-8684-596F35C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292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2A328-D18A-469A-8F21-5348677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958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DABA3C-DDCC-4960-8F2C-FE1AD0D0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0.9237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D15D37-786D-4085-950C-092587C4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B4416-0BAB-41FB-8FA1-3E01DAA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0.9277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369B8-9977-45F2-A159-A11763FA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0958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9CDC9-EAF3-4DCF-A40E-61A6A3FB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2959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D4EA6-1EE5-4B9D-B51C-4795422B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3625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平静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06FCE6-4F37-418B-A8D9-84AA7C78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0.8763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FC7B0F-31F1-40FD-B2CC-B69C124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0.9341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781C1-C44B-44ED-AB15-EC3FA71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0.9043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5948E8-1263-4BF9-9440-178989E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3625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91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74EE8E-A8EB-4A38-8EBB-99C77D9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6260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EF3F16-7D95-4D6A-95A8-F0C70542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2927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C91367-21EC-4E6F-A450-F8875465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23DA02-B4CD-4E6D-9BF1-54E1EAD3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0.8734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CBAAC-1271-4CF8-BE7C-B313450A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0.8961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8D788F-DCB9-4B29-8BAF-2CC5EA44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629275"/>
            <a:ext cx="847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B62B5C-FF05-42F9-A19B-A6FFB625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D0863B-61EC-4680-A3E3-3552A15F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C10016-01E3-453C-A710-C97AF09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76B95C-65E4-4A94-9EE1-2DB3601B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测试集 430 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B96891-1DB8-47A3-B02A-8163F49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27FD77-B511-4394-BD73-1985A6B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2BF1F6-41CB-4349-978C-02AB13CA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C2B5FB-0030-4D3B-9FCF-011BF716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类别均衡指标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18CDEA-D9C7-4216-AFBA-5CA1B52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95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360C03-A364-4538-BFE4-57618705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8672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331C2D-D842-47C4-BAB8-99193BC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006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Weighted F1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4F49A0-8B52-4E1F-940D-AD91C3A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3625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样本加权指标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CC500D-B136-496D-BB0A-B664015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340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BFEAD9-07F4-4148-970D-4D339A8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7054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0.000368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48364F-92DD-49F2-B09C-192EF5FD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0388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ms / sample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AF6324-AF3A-479F-A830-BC94FC47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2007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本地预测耗时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B28B6F-403D-42A3-A9CF-727E762D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AA4891-1771-4C2D-AC7F-E9B71C76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证据：evaluation_log.json / test_model_compare.csv / test_metrics_compare.png / f1_bar.png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421F4F-37B9-4747-990A-9E5702C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54017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04848-AAEC-4F5A-883E-ED975A4C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A0CDF-8D7E-4FD4-B61B-D3CA161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52413-97B7-4936-8C69-4D4B05C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27C11879-D099-4018-B179-DB753750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50825FC-23DF-45FB-A660-DF73F66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ERROR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B0A89-13F1-4FC7-A560-1C1402F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误差不是随机崩溃，主要集中在情绪边界相近的类别之间。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f384b6c5b4c05"/>
          <a:stretch xmlns:a="http://schemas.openxmlformats.org/drawingml/2006/main"/>
        </p:blipFill>
        <p:spPr>
          <a:xfrm xmlns:a="http://schemas.openxmlformats.org/drawingml/2006/main">
            <a:off x="635794" y="1504950"/>
            <a:ext cx="4243388" cy="385762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36a677e14489f"/>
          <a:stretch xmlns:a="http://schemas.openxmlformats.org/drawingml/2006/main"/>
        </p:blipFill>
        <p:spPr>
          <a:xfrm xmlns:a="http://schemas.openxmlformats.org/drawingml/2006/main">
            <a:off x="5286375" y="1620482"/>
            <a:ext cx="3905250" cy="340748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5CE3F-24E3-4B4C-A09E-686A911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7621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936D1-3BF6-4A48-AD2B-9F532DF0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D99A7-CCF7-4B72-BF3C-64D0CCBF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1419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主要边界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06566-74A5-4314-8EC2-2ACB5E1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4192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难过 ↔ 平静</a:t>
            </a:r>
          </a:p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 ↔ 焦虑</a:t>
            </a:r>
          </a:p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 ↔ 平静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568F9-FF04-46A7-9C89-17DEC1B5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62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23AD6-0501-4327-AB18-60F0F23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2D3F1-CCF7-4782-8580-51A12128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419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原因解释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05C24-2B82-4B11-8CF3-B146D05E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81400"/>
            <a:ext cx="14192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短日记常省略上下文；同一句可能同时包含压力、失落或平静叙述。词面信号不足时，线性模型会靠近相邻类别。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D2D8D-9D1E-40AF-A1D2-42A3EF1D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7DCA7-8B1E-475D-9179-9776AA8A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1975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焦虑类别 Recall 达 0.9821，说明校园焦虑样本补充有效。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96C58-15E7-45EC-A6FD-B03C12C9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BD238-28CE-475D-9199-03B7FDBD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6740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开心与平静、难过与平静容易混淆，反映“情绪强度”比“情绪方向”更难区分。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28228-8E71-465F-A026-4E22753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53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B2909-61B4-4F15-BB2A-A67A72DE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115050"/>
            <a:ext cx="963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下一步应补充真实日记长文本、加入置信度阈值和人工复核机制。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A4288-3730-48E5-9068-C328B0D4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D3310-C548-45B6-97A6-E1FE4B4A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证据：confusion_matrix_svm.png / svm_error_pair_heatmap.png / error_cases.csv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AADD0-7BFE-4D3A-89C5-2831C2A9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473856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CFEDE-5D0E-4A99-9071-43AEE287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1509C-EA62-4D43-BFEC-7B0FDE1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797B3-9FCB-4847-9F61-821CA38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B066A06E-98C6-455D-8471-E49B91B0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DE952E91-46A7-412E-853F-CA0A602D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INTERPRETABILITY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F788E-CF5E-42B3-AB8D-A9C120E7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Top TF-IDF 词项提供了可解释证据：模型捕捉的是情绪表达线索，而不是纯粹记忆样本。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d6bdada274e76"/>
          <a:stretch xmlns:a="http://schemas.openxmlformats.org/drawingml/2006/main"/>
        </p:blipFill>
        <p:spPr>
          <a:xfrm xmlns:a="http://schemas.openxmlformats.org/drawingml/2006/main">
            <a:off x="1909388" y="1524000"/>
            <a:ext cx="3210674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FECD5-022B-4A18-9DF2-4119865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A5B5F-E271-4FE7-B9CA-3C41EF3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1612A-A121-4159-B8F1-BA758089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2402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焦虑信号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B75B2-F7FC-4708-AB6B-110B034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9775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“还没、担心、准备、没准备、准备好”集中指向未完成任务和时间压力。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6352A-1443-4931-BF67-3B0BE415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BD1C7-98F8-4B89-9178-1A9628C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D8856-F4D4-42AE-8697-D1D05D5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384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AF752-2571-4284-A9A1-977187AB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“开心、终于、太高兴、太好了”直接表达正向情绪或压力解除。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59729-BA67-4EFC-83F9-DA492588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2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C09D-331E-456A-B54B-DAF1491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69EC3-C89F-4DA9-815F-EFEC5759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生气信号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9A139-31E9-4022-8CBC-D716788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38625"/>
            <a:ext cx="33718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“真的、这样、怎么、不、这种”更多对应抱怨、反问和被冒犯语气。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98C7E-0153-46AB-8B09-1A214424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3714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74197-A240-4447-85A7-78FCDF4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7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F5142-D9DD-4BF8-B2E7-10A7C88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411BC-2DDD-402B-B27E-202DD543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53050"/>
            <a:ext cx="3371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可解释性不是只看一个词，而是结合类别词项、混淆矩阵和误分类案例判断模型是否学到合理规律。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289FB6-80D5-479F-B3AD-F6A6021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87C99-D9B5-4826-AE3C-13F4FF93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证据：top_tfidf_terms_by_label.csv / top_tfidf_terms_by_label.png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1FEF4-6CFA-437B-8B45-4A20F0B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86242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4FF05-8E46-4360-A6F6-A5C4EB0E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C8459-E9EA-415E-B9E4-9A029EE0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DCF72-E212-4E8B-841E-F5AB304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889FA909-3162-4F1D-BCA7-58C61034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AAD45C55-BD7E-4BCF-ABB9-B5CCB72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DJANGO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469E6-0917-4A4B-BAA0-B92E39B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模型已进入 Django 日记流程：用户输入、模型预测、数据库记录和趋势展示形成闭环。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BF31-7E55-4B87-81BA-93EB605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AB99F-74B4-4D5F-A40C-4EFE8B4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B28B6-3974-4205-A9F1-3ACB56B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1095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0B417-2DFA-4A16-8245-7907E8D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457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mood_note 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D9CB1-B203-4F0B-BBDD-E2D3087D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CDA36-E6ED-4978-91D3-CF8D3E1A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76F5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3DD7D-4114-42A6-AC60-ED8345A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7640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预测入口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12CC3-3E78-4F2D-B92C-AB18517B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981200"/>
            <a:ext cx="1743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mood/views.py 调用 predict_emotion(text)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32D55-1ABC-460A-9791-093A67EF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24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C9A1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DCB49-B47B-4766-A725-58103B4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A1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18CC6-4F0A-412E-AC3D-3765AFC5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76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C18C8-8913-42A3-847A-4786B70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 vectorizer + LinearSVC joblib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F8356-510C-4625-A879-58C4B28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24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1632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18079-6E55-4650-AF53-F78BC191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49314-8177-47D1-A8ED-488BAC2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CB5A1-9738-4DE5-AD2D-D31B36A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MoodEntry 保存 label/score/model_name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7C8F2-6D17-4C9D-984D-DCB66D6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BF6"/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9D3EC-1BCB-4CFC-8C92-5D50686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57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D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B49635-704C-4110-B528-7EBFFFA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76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3EA1D-9D0C-47B7-A185-42531FA3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812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情绪、建议语、历史记录和趋势图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a5c44b44a47dc"/>
          <a:stretch xmlns:a="http://schemas.openxmlformats.org/drawingml/2006/main"/>
        </p:blipFill>
        <p:spPr>
          <a:xfrm xmlns:a="http://schemas.openxmlformats.org/drawingml/2006/main">
            <a:off x="6522244" y="2857500"/>
            <a:ext cx="4167188" cy="23812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FD5F3-CCBB-44C9-AF91-1DE9D981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0958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CA719-C266-47C4-ACAE-02262EF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数据库字段同步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7289D-0DBA-4295-9DDA-189A672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emotion_label：0/1/2/3/4 五分类标签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sentiment：sad/anxious/angry/calm/happy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score：-2/-1/0/+2 趋势分值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model_name：TF-IDF + LinearSVC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analysis_message：对应情绪建议语</a:t>
            </a:r>
          </a:p>
          <a:p xmlns:a="http://schemas.openxmlformats.org/drawingml/2006/main">
            <a:pPr algn="l">
              <a:def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analyzed_at：预测时间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C701B-2FAB-42B0-9818-2A99E8C7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191994-624A-4F26-A85D-1CAD9BD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0690A-32EC-4C65-B53F-E69B6A6D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BA9021-04E6-4FD5-9F7F-B11CCD9D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38800"/>
            <a:ext cx="824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本项目没有重写网站，而是把识别内核替换为本地传统机器学习模型；这使实验产物可以被页面真实调用，满足“机器学习与实践”的实践要求。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DBF44-7929-4E0D-B407-E1E763E4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1FAC9-DDEF-48A3-BCB9-6BF4A6BB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证据：mood/views.py / mood/models.py / ml/predict.py / static/mood_trend.png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E1314-22B0-442F-AB89-3048FF55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5540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E9815-487D-4C8C-9DBF-37E3F120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9F3D1-0F55-449F-A854-D69F9186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7E38C-AEF3-4EC7-8612-E4B9874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735B3455-E879-497A-B367-30C50D9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26D7F256-3EE1-40DB-A860-8FCD7347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REPRODUCIBILITY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C9BE3-A672-4220-9320-9BD5365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可复现不是口头承诺：从数据构建到网页运行都有明确命令、产物和检查点。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370F0-59D1-4E94-B312-CAD2001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69E95-3761-4E37-992C-8D50D583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3079F-D0C4-453D-A61E-2F20A23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859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ED094-BE7B-485D-BB80-16A8D7F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859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18EB6-86CA-4674-A8A0-21E1557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E4FE5-2475-4DA1-9470-33DFE3B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数据构建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0B40F-B93E-4D8E-A354-74DF817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859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ml\build_5class_dataset.py &amp;&amp; python ml\split_dataset.py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688E6-A3D2-41DE-80A6-082AC66E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859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emotion_labeled.csv / label_distribution.png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74D64-0372-4D42-86C4-540D35D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D8AAE-0A72-4B88-B531-E7E6300A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预处理与特征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74B5D-1B25-4762-99E5-0D401FAD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860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ml\preprocess.py &amp;&amp; python ml\feature_engineering.py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CBA9A-6767-4AC3-A058-E8AA8324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860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train_segmented.csv / tfidf_vectorizer.joblib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8D93A-67E8-4435-8AF9-A3CBEAE2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32388-9738-4243-A441-782F355A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监督训练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E7C6B-C4DE-4246-B647-3C65FB0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860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ml\train_model.py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8322C-72FF-4B2B-868E-CCD3FEDF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nb/lr/svm_model.joblib / train_log.json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52AE0-17FC-45C1-8C7B-D5AEDD7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41510-C1EB-4BB8-919E-C6E8224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测试评估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76526-7245-4DDF-B6F4-84E7C321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ml\evaluate_model.py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2BF870-DE09-48A9-9C46-85C219A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8612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test_model_compare.csv / confusion_matrix_svm.png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4EB69-57DC-4997-B29B-79E8D98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E241C-5304-4EF3-9173-FF343E5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网页演示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ABC6F-C1D2-4FD9-ABF1-E4490F9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86175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python manage.py migrate &amp;&amp; python manage.py runserver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EDFB0-07DF-43A3-B5B3-E7825321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86175"/>
            <a:ext cx="3562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MoodEntry 记录 / mood_trend.png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2E5CC-8D31-413A-A67F-3A868EAF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66FEB5-5AC1-40F8-A392-EF7174F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A7438-FDF5-4036-AD4C-00728691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环境说明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9EB680-E725-4957-BA45-11BCA67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当前训练环境为 Python 3.9.13、scikit-learn 1.0.2、joblib 1.1.0；正式演示若切换 Python 3.11，应重新训练并保存 joblib。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A36B8E-2D86-4E02-8CFA-7179FAF4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A9E86B-498B-4F53-9EC4-8E057ED6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CDE52E-1C42-4931-8EEB-616C7B12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957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版本风险控制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8963DF-9476-4313-AFC4-D1230D66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81525"/>
            <a:ext cx="2800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scikit-learn 不保证 joblib 跨版本加载完全兼容，因此报告中记录环境版本和模型路径，避免“能跑但不可解释”。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CC9409-F9D8-4882-B783-4E42822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9DE12-D144-4D6D-93DE-D6E98BE2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34EA0A-FCBD-45B0-83E9-E3A0371A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答辩检查点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6A02EF-2990-4594-B77C-89AFB4A5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81525"/>
            <a:ext cx="2609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现场可展示：CSV、JSON 训练日志、混淆矩阵、稀疏矩阵、Django 首页提交和数据库记录。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F93919-4D7C-4EA5-AF77-9BFF4A3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BC80A-D7D7-49DA-9295-196A17C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324928-6784-4613-8ADE-48E3422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864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BB6AB3-D95D-4AC4-A723-44FD4A3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86425"/>
            <a:ext cx="834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这套流程可以从零重新生成数据、训练模型、评估结果并接入网站，因此不是一次性截图工程。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BAF766-98D7-4D4E-98F8-53E3444D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0FD0F4-0667-4C83-8405-C526E53D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证据：README.md / requirements.txt / ml/reports/train_log.json / evaluation_log.json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8501F4-B8F9-415B-9CEF-E2C14D8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904116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BB9C88-C91D-4E2D-ADF1-65D17E74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FD4EF-CF1D-415B-963C-6BD2CF9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BD4C1-0C8A-4CB9-9E8F-EBA08B50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88C899C2-3716-44C6-9EB4-7629360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F4D9F197-E0B1-45EB-B8B3-0CBAE90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CONTRAST AND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AF71A-A569-4787-80CF-55F9C09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对照实验说明：无监督聚类能展示结构，但不能替代监督模型作为主系统。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f41631b8e4267"/>
          <a:stretch xmlns:a="http://schemas.openxmlformats.org/drawingml/2006/main"/>
        </p:blipFill>
        <p:spPr>
          <a:xfrm xmlns:a="http://schemas.openxmlformats.org/drawingml/2006/main">
            <a:off x="876300" y="1524000"/>
            <a:ext cx="3829050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734D5-5B1A-4E60-B739-D3BAC82E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1F50C-31A5-4A29-98EF-E8413879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7811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7AB50-98B8-4291-9668-E3D9A2CD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11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F2A12-8AFD-4296-B896-8E7B018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811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E7E9A-009F-46A1-975F-ABCB8DB0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811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CFA5F-33E9-4C47-B8D5-23894E89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234FB-076A-4BE6-B828-78FE7C02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4312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TF-IDF KMeans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233B7-B1F3-4D2E-9430-9F5224F2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0.6834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3969B-B859-4E0D-AD1F-E7EC266C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0.6130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06437-BBBF-48AF-AC14-B1EB4AC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无监督拓展，需后验映射 cluster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B48A5-3861-41A8-B64D-700F8AFE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E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B71FA-A90D-4CD0-8A7A-D670CF9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0507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LSA + KMeans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F9647-879B-4B8F-BA75-059C453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050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0.6994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068B7-F89D-4760-B437-989406B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0507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0.6876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CA16F-5A4F-405D-AC8C-A9459B07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0507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可视化更稳定，但仍低于监督模型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5E10A-CC0A-4DEC-A77D-E642E0C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0D71-D957-4887-BB8D-66C0022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67025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33D8E-D290-458A-B1A8-3AC009D1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670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0.9186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51786-B232-48B7-A376-5932F116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67025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870FB-4A4A-4984-850B-8EC27968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67025"/>
            <a:ext cx="356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最终接入 Django 的主监督模型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8BD82B-7574-44B9-9DFF-4822395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B9CD0-5A0B-4A07-945E-E8BF6D73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8BC5B-89A7-4E03-864D-57E3C48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38525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Hugging Face 对照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4FB27-9F83-4FEB-A580-5BF3D04E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41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项目保留 hf_predict.py 作为旧方案对照入口；当前机器 transformers 导入因 urllib3 依赖冲突被记录为 skipped，不影响本地主模型评估。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783EC-623D-4316-9FFE-E7472BE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32F00-B100-494E-B2A2-9E0025EC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007FB-8BA1-4E28-99FF-B9B76C6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3390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为什么不把 KMeans 当主模型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27F7B-7A82-4023-8B11-BAE1ABF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19650"/>
            <a:ext cx="441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聚类标签本身没有情绪语义，必须根据簇内多数标签后验解释；它适合课程拓展，不适合直接给用户返回情绪。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F9274-DC4E-4F0B-96AE-DA8A32E3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B50591-2A89-4D5B-AD5C-385D3CE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9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0.6994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04041-5B20-4DFD-8414-8918EDC2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最佳无监督 Accuracy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E24DE-A50E-4FB7-BBA0-B76A8704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14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LSA+KMeans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EF9233-AD08-4081-AC69-4E27DBA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240471-D960-44FD-A66E-064B20A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96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0CDFEA-69F5-4A7E-854B-0D1009AD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530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监督 Macro F1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FC53EF-0764-4637-89B9-D5C68AB1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149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99607E-92E8-4E59-A669-B91FB807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245629-E412-436B-AB39-B17CB92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证据：kmeans_compare.csv / hf_compare.csv / kmeans_vis.png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97B09C-1758-4DA2-BE1F-01BDDE63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210146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04A1F-2267-46BB-B64B-E6F98EFE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90C6-C726-4A69-ACF7-D8086378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8B96-24AB-4A73-B821-A1D099FB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AD233854-4B62-4CC5-8095-B30474A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E01EBBBD-6728-450B-BAF3-B43F73A9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LIMITATIONS AND 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4BD2-3E40-4AB1-B8AE-95E6D72C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不足与改进路径必须讲清楚：当前系统可靠，但还不是面向真实大规模用户的最终模型。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0EF96-2BDC-4BA0-9632-C1387ADA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7BF76-3201-4999-8488-1C1C7F59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A921D-72B3-45D3-BBF5-BD456C7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1：数据来源仍偏小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66EDE-A7C1-4DD9-8DD5-593BD6D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公开多情绪语料与人工校园样本能支撑课程验证，但真实日记表达更私密、长短不一、情绪混合更明显。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7DB64-4D88-4E74-B898-45F7D054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FC73C-C0F0-4F47-A76F-C79451E5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572C2-2B9E-4250-967E-ED48AB8A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2：边界情绪仍会混淆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D4CB0-9D94-4A86-8CA8-7CF5B6A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开心/平静、难过/平静、生气/焦虑在短句中常共享词面信号，需要更多上下文和强度建模。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DE991-B3C2-4CB1-8136-BD59025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787AD-CAA1-463E-8863-8CEC78C9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DF8C2-489A-405B-B076-2BC7F0D3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局限 3：置信度解释有限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F38FF-4481-4138-9DFD-21C7A83F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LinearSVC 决策函数可排序，但不是天然概率；若用于真实用户建议，需要阈值、校准和人工兜底。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66BB8-8C3F-4D01-B0CA-FAE4ED2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A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F7FAF-E0DE-471D-95F5-96B48FC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91756-1337-4EBE-A6B3-7D8D70E4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1：数据层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DBD91-5615-4169-8854-15D4478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收集匿名真实日记，扩展焦虑/平静/开心边界样本；建立主动学习流程，让误分类样本反哺训练集。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22759-4F88-40E5-B7FC-F7342BE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980E3-BEC0-44A0-BB16-F5516F2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38808-622C-4CC6-B1C5-79842123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2：模型层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256F4-957C-4015-874A-016219D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在传统模型上加入概率校准和阈值拒识；进一步比较 LinearSVC、LR、轻量中文预训练模型的成本收益。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734E5-E709-4A9D-9128-F557C0AD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2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2152D-7024-443E-AC3B-42945D7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8F318-C3DB-4CDE-8F67-F73C2002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改进 3：系统层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07826-09B8-46C1-BBB1-A45D533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为 Django 增加模型版本字段、预测日志、用户反馈入口和可视化误差面板，形成长期迭代闭环。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CEED1-3971-4AB4-8E88-B4149846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32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6A7B7-0243-4E68-9BAC-D431C8E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D7E88-0BF8-491A-8B10-73F3B8EE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B62F37-762E-456E-8F97-5207C213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91175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承认局限不是削弱项目，而是说明当前结论的适用边界：课堂级、离线、可复现、可解释的五分类情绪日记系统已经成立。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F06AC-5E65-4897-A30D-43F4453F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C784EC-2B28-41D3-A16C-64A629A7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证据：error_cases.csv / svm_error_pair_heatmap.png / django_integration_summary.md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EF26DB-7D50-49DE-95C7-E4B55A4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2145803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72671-8FDF-4685-822A-59C22FC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EAD79-AEBD-457F-A3C6-516FB37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85C7-2C3B-4AE7-8920-B334ED29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82CA568E-965E-480A-8902-D3CB807D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66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74516BA0-A429-440E-AEC9-5454635A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093D0-AED9-48E2-8A05-D736B75D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1009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结论：轻量传统机器学习足以支撑课堂级情绪日记五分类系统，并且证据链完整。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95227-FF3C-42E2-ACD9-77854CBD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9C40F-F3F0-4A24-A22D-259046E6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FC138-5DE4-4A9D-ACE5-06603ECA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8248B-6E6F-49C3-BBEE-8EBFDEC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能否离线复现？可以。数据构建、分词、TF-IDF、训练、评估和 Django 接入都有脚本与产物，核心推理不依赖网络。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CE251-9113-4A46-A90F-D2FB0784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574C3-8919-4D2B-9CF8-515C87C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B67C3-C57D-4EC2-8B35-1F5D1932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CA593-FAEF-4B2B-A2BA-C8438CF0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能否稳定识别五类？可以。LinearSVC 在测试集上 Accuracy 0.9186、Macro F1 0.9208，焦虑类 F1 0.9649。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B42B7-A5FB-466F-83FD-592779A8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95B94-8FA5-4033-A38F-553A8DBC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F6A1D-FF5E-47E6-8661-5D9BEE47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19275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问题回答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59374-E1A9-4047-AF60-DA0B5697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05025"/>
            <a:ext cx="28003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能否服务系统？可以。predict_emotion 已接入 Django，预测结果写入 MoodEntry，并驱动趋势图和页面建议。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F88B9-0ACD-4D5C-B79D-E9C4342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4CEA6-40CA-44B0-9248-3AF3A5BE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4295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B61C0-0A0F-4D8B-8170-E1DBBD23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标注样本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ACDC3-428A-4274-B2F6-4B959C7D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五分类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DD5CC-63ED-49D8-9B14-03CA93E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BE55F-EA25-4583-B7BD-213209B1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3439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BF34E-7832-47A9-B1EE-CE15477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特征维度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C807A-47E6-4E52-9E8C-84B62C2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TF-IDF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C1550-5D54-46CB-9CBF-E48FDF81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90708-648B-4EFE-821B-31164F5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0.9208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65164-A885-4B53-9D28-9753D5C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 Macro F1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51BA3-7DD4-451F-A87E-D980B29E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A3F59-B516-47FF-82B6-BBE1D4E4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8BD26-63C6-4FAB-974A-FAD0BD19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86175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5680D-12B5-45C7-94BF-1BBBD250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19550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283568-BD60-456E-A4D4-1716FFF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81475"/>
            <a:ext cx="1809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数据+模型+系统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4D9CE1-11B6-42C1-86D8-A2B5ACC3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4"/>
          </a:solidFill>
          <a:ln xmlns:a="http://schemas.openxmlformats.org/drawingml/2006/main" w="9525">
            <a:solidFill>
              <a:srgbClr val="D7D2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79E7CC-D01E-4A64-A737-B0A0B88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69FDCA-3ECF-41BD-9829-C8CC563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48275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答辩结束语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28D8EE-9351-47BE-92D9-F0A4882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本项目的价值不在于堆叠复杂模型，而在于在明确约束下完成一套可验证的机器学习工程：标签定义清楚，特征证据可见，模型选择有指标，误差分析有解释，系统落地有入口。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506ED-92C1-467F-B606-74F527A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8EC9CD-859B-4B1F-938A-FD269F15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结论：TF-IDF + LinearSVC 是当前数据规模与课程场景下的主模型；后续重点是扩充真实日记样本和置信度校准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F34A2E-D1F0-4D35-B0EB-F128819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33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09558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2026-05-21T11:42:34.1720000Z</dcterms:created>
  <dcterms:modified xsi:type="dcterms:W3CDTF">2026-05-21T11:42:34.1720000Z</dcterms:modified>
</coreProperties>
</file>