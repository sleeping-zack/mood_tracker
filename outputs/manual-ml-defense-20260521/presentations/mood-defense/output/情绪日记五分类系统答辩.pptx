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1d9630fe64589" /><Relationship Type="http://schemas.openxmlformats.org/officeDocument/2006/relationships/extended-properties" Target="/docProps/app.xml" Id="R011ecd4ecb894237" /><Relationship Type="http://schemas.openxmlformats.org/officeDocument/2006/relationships/officeDocument" Target="/ppt/presentation.xml" Id="R1c40f1cb06af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97af0854d4a99"/>
  </p:sldMasterIdLst>
  <p:notesMasterIdLst>
    <p:notesMasterId xmlns:r="http://schemas.openxmlformats.org/officeDocument/2006/relationships" r:id="Re9fb06636fd24a49"/>
  </p:notesMasterIdLst>
  <p:sldIdLst>
    <p:sldId xmlns:r="http://schemas.openxmlformats.org/officeDocument/2006/relationships" id="256" r:id="Rfd2f383596b241f0"/>
    <p:sldId xmlns:r="http://schemas.openxmlformats.org/officeDocument/2006/relationships" id="257" r:id="R7b749960a2d149b8"/>
    <p:sldId xmlns:r="http://schemas.openxmlformats.org/officeDocument/2006/relationships" id="258" r:id="Rbbdf8ee764cb4eb6"/>
    <p:sldId xmlns:r="http://schemas.openxmlformats.org/officeDocument/2006/relationships" id="259" r:id="Rcfaa804790b74275"/>
    <p:sldId xmlns:r="http://schemas.openxmlformats.org/officeDocument/2006/relationships" id="260" r:id="Rac7378ca4f094ea6"/>
    <p:sldId xmlns:r="http://schemas.openxmlformats.org/officeDocument/2006/relationships" id="261" r:id="Rc0ba941e9f714329"/>
    <p:sldId xmlns:r="http://schemas.openxmlformats.org/officeDocument/2006/relationships" id="262" r:id="R5e7fc7265dda4a78"/>
    <p:sldId xmlns:r="http://schemas.openxmlformats.org/officeDocument/2006/relationships" id="263" r:id="R53f28040ea8e49db"/>
    <p:sldId xmlns:r="http://schemas.openxmlformats.org/officeDocument/2006/relationships" id="264" r:id="R9547f06828cc4158"/>
    <p:sldId xmlns:r="http://schemas.openxmlformats.org/officeDocument/2006/relationships" id="265" r:id="R9f137ccd89c541ed"/>
    <p:sldId xmlns:r="http://schemas.openxmlformats.org/officeDocument/2006/relationships" id="266" r:id="Rc1f6ffdbca614245"/>
    <p:sldId xmlns:r="http://schemas.openxmlformats.org/officeDocument/2006/relationships" id="267" r:id="Rb89cb598b7a442df"/>
    <p:sldId xmlns:r="http://schemas.openxmlformats.org/officeDocument/2006/relationships" id="268" r:id="R5a20bdbef10944b1"/>
    <p:sldId xmlns:r="http://schemas.openxmlformats.org/officeDocument/2006/relationships" id="269" r:id="R431a0409f34b44fb"/>
    <p:sldId xmlns:r="http://schemas.openxmlformats.org/officeDocument/2006/relationships" id="270" r:id="R2a4ee2eefedc4741"/>
    <p:sldId xmlns:r="http://schemas.openxmlformats.org/officeDocument/2006/relationships" id="271" r:id="R0ebede357ec540e4"/>
    <p:sldId xmlns:r="http://schemas.openxmlformats.org/officeDocument/2006/relationships" id="272" r:id="Rb357ab10db3c41e4"/>
    <p:sldId xmlns:r="http://schemas.openxmlformats.org/officeDocument/2006/relationships" id="273" r:id="R73b0e959109942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97af0854d4a99" /><Relationship Type="http://schemas.openxmlformats.org/officeDocument/2006/relationships/theme" Target="/ppt/theme/theme1.xml" Id="R6860dc3dafb34005" /><Relationship Type="http://schemas.openxmlformats.org/officeDocument/2006/relationships/notesMaster" Target="/ppt/notesMasters/notesMaster1.xml" Id="Re9fb06636fd24a49" /><Relationship Type="http://schemas.openxmlformats.org/officeDocument/2006/relationships/presProps" Target="/ppt/presProps.xml" Id="R5713d2d2868f4956" /><Relationship Type="http://schemas.openxmlformats.org/officeDocument/2006/relationships/viewProps" Target="/ppt/viewProps.xml" Id="Rcdce9aed0f0a4da0" /><Relationship Type="http://schemas.openxmlformats.org/officeDocument/2006/relationships/tableStyles" Target="/ppt/tableStyles.xml" Id="R9bc0642ab2b840cc" /><Relationship Type="http://schemas.openxmlformats.org/officeDocument/2006/relationships/slide" Target="/ppt/slides/slide1.xml" Id="Rfd2f383596b241f0" /><Relationship Type="http://schemas.openxmlformats.org/officeDocument/2006/relationships/slide" Target="/ppt/slides/slide2.xml" Id="R7b749960a2d149b8" /><Relationship Type="http://schemas.openxmlformats.org/officeDocument/2006/relationships/slide" Target="/ppt/slides/slide3.xml" Id="Rbbdf8ee764cb4eb6" /><Relationship Type="http://schemas.openxmlformats.org/officeDocument/2006/relationships/slide" Target="/ppt/slides/slide4.xml" Id="Rcfaa804790b74275" /><Relationship Type="http://schemas.openxmlformats.org/officeDocument/2006/relationships/slide" Target="/ppt/slides/slide5.xml" Id="Rac7378ca4f094ea6" /><Relationship Type="http://schemas.openxmlformats.org/officeDocument/2006/relationships/slide" Target="/ppt/slides/slide6.xml" Id="Rc0ba941e9f714329" /><Relationship Type="http://schemas.openxmlformats.org/officeDocument/2006/relationships/slide" Target="/ppt/slides/slide7.xml" Id="R5e7fc7265dda4a78" /><Relationship Type="http://schemas.openxmlformats.org/officeDocument/2006/relationships/slide" Target="/ppt/slides/slide8.xml" Id="R53f28040ea8e49db" /><Relationship Type="http://schemas.openxmlformats.org/officeDocument/2006/relationships/slide" Target="/ppt/slides/slide9.xml" Id="R9547f06828cc4158" /><Relationship Type="http://schemas.openxmlformats.org/officeDocument/2006/relationships/slide" Target="/ppt/slides/slide10.xml" Id="R9f137ccd89c541ed" /><Relationship Type="http://schemas.openxmlformats.org/officeDocument/2006/relationships/slide" Target="/ppt/slides/slide11.xml" Id="Rc1f6ffdbca614245" /><Relationship Type="http://schemas.openxmlformats.org/officeDocument/2006/relationships/slide" Target="/ppt/slides/slide12.xml" Id="Rb89cb598b7a442df" /><Relationship Type="http://schemas.openxmlformats.org/officeDocument/2006/relationships/slide" Target="/ppt/slides/slide13.xml" Id="R5a20bdbef10944b1" /><Relationship Type="http://schemas.openxmlformats.org/officeDocument/2006/relationships/slide" Target="/ppt/slides/slide14.xml" Id="R431a0409f34b44fb" /><Relationship Type="http://schemas.openxmlformats.org/officeDocument/2006/relationships/slide" Target="/ppt/slides/slide15.xml" Id="R2a4ee2eefedc4741" /><Relationship Type="http://schemas.openxmlformats.org/officeDocument/2006/relationships/slide" Target="/ppt/slides/slide16.xml" Id="R0ebede357ec540e4" /><Relationship Type="http://schemas.openxmlformats.org/officeDocument/2006/relationships/slide" Target="/ppt/slides/slide17.xml" Id="Rb357ab10db3c41e4" /><Relationship Type="http://schemas.openxmlformats.org/officeDocument/2006/relationships/slide" Target="/ppt/slides/slide18.xml" Id="R73b0e9591099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161aa3edc14d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a16b09b4246c3" /><Relationship Type="http://schemas.openxmlformats.org/officeDocument/2006/relationships/notesMaster" Target="/ppt/notesMasters/notesMaster1.xml" Id="R4a0dd5a4e9a94a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f472608fb64297" /><Relationship Type="http://schemas.openxmlformats.org/officeDocument/2006/relationships/notesMaster" Target="/ppt/notesMasters/notesMaster1.xml" Id="R6ff68548ab8d43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543ae54ea4b4e" /><Relationship Type="http://schemas.openxmlformats.org/officeDocument/2006/relationships/notesMaster" Target="/ppt/notesMasters/notesMaster1.xml" Id="Rf7bd02d2ed0b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2ec8f56474fe2" /><Relationship Type="http://schemas.openxmlformats.org/officeDocument/2006/relationships/notesMaster" Target="/ppt/notesMasters/notesMaster1.xml" Id="R2ad45ac44ad74a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43b585834f4b71" /><Relationship Type="http://schemas.openxmlformats.org/officeDocument/2006/relationships/notesMaster" Target="/ppt/notesMasters/notesMaster1.xml" Id="R5520d53b55ad48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6d70bd14df4e31" /><Relationship Type="http://schemas.openxmlformats.org/officeDocument/2006/relationships/notesMaster" Target="/ppt/notesMasters/notesMaster1.xml" Id="Ra239071d77844b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f9f22d93c4aed" /><Relationship Type="http://schemas.openxmlformats.org/officeDocument/2006/relationships/notesMaster" Target="/ppt/notesMasters/notesMaster1.xml" Id="R473f49a5185f43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cf90f3fc5441d4" /><Relationship Type="http://schemas.openxmlformats.org/officeDocument/2006/relationships/notesMaster" Target="/ppt/notesMasters/notesMaster1.xml" Id="Rf2d1fe0e81044f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cac9e807a243a7" /><Relationship Type="http://schemas.openxmlformats.org/officeDocument/2006/relationships/notesMaster" Target="/ppt/notesMasters/notesMaster1.xml" Id="Raa9483baa6f746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345898e6b44695" /><Relationship Type="http://schemas.openxmlformats.org/officeDocument/2006/relationships/notesMaster" Target="/ppt/notesMasters/notesMaster1.xml" Id="R293e443dab0143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7aa7cd4b044107" /><Relationship Type="http://schemas.openxmlformats.org/officeDocument/2006/relationships/notesMaster" Target="/ppt/notesMasters/notesMaster1.xml" Id="R8f56ad9c27b448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ec17b967994c6c" /><Relationship Type="http://schemas.openxmlformats.org/officeDocument/2006/relationships/notesMaster" Target="/ppt/notesMasters/notesMaster1.xml" Id="R9862657021834a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d5a2a385f543db" /><Relationship Type="http://schemas.openxmlformats.org/officeDocument/2006/relationships/notesMaster" Target="/ppt/notesMasters/notesMaster1.xml" Id="Rbced676d717944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5b79f143c844ff" /><Relationship Type="http://schemas.openxmlformats.org/officeDocument/2006/relationships/notesMaster" Target="/ppt/notesMasters/notesMaster1.xml" Id="R115446b1c4484e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2f62205056459b" /><Relationship Type="http://schemas.openxmlformats.org/officeDocument/2006/relationships/notesMaster" Target="/ppt/notesMasters/notesMaster1.xml" Id="Rf6c6b3dc1b724d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2b2026f77849bb" /><Relationship Type="http://schemas.openxmlformats.org/officeDocument/2006/relationships/notesMaster" Target="/ppt/notesMasters/notesMaster1.xml" Id="Rbca3cc37ec634c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adaada15e347cd" /><Relationship Type="http://schemas.openxmlformats.org/officeDocument/2006/relationships/notesMaster" Target="/ppt/notesMasters/notesMaster1.xml" Id="R2e2b9503ca3f43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651a0e3ad84401" /><Relationship Type="http://schemas.openxmlformats.org/officeDocument/2006/relationships/notesMaster" Target="/ppt/notesMasters/notesMaster1.xml" Id="R915d71e02bd44c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2b2e065724e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424711baae40e5" /><Relationship Type="http://schemas.openxmlformats.org/officeDocument/2006/relationships/slideLayout" Target="/ppt/slideLayouts/slideLayout2.xml" Id="R1db83e7167f04a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83e7167f04a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bbe3f90ce44d27" /><Relationship Type="http://schemas.openxmlformats.org/officeDocument/2006/relationships/image" Target="/ppt/media/image.png" Id="Rd2a7e9bdd2244d81" /><Relationship Type="http://schemas.openxmlformats.org/officeDocument/2006/relationships/notesSlide" Target="/ppt/notesSlides/notesSlide1.xml" Id="R0b35ad8d559540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4bc387ea743ae" /><Relationship Type="http://schemas.openxmlformats.org/officeDocument/2006/relationships/notesSlide" Target="/ppt/notesSlides/notesSlide2.xml" Id="Rd50ecf0435154b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3c02069ffe4587" /><Relationship Type="http://schemas.openxmlformats.org/officeDocument/2006/relationships/notesSlide" Target="/ppt/notesSlides/notesSlide3.xml" Id="R0cb91aedcfc14e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8a1cfe69e4942" /><Relationship Type="http://schemas.openxmlformats.org/officeDocument/2006/relationships/image" Target="/ppt/media/image2.png" Id="R5db898fc13ec439e" /><Relationship Type="http://schemas.openxmlformats.org/officeDocument/2006/relationships/image" Target="/ppt/media/image3.png" Id="R0d24af9d55dc4c2f" /><Relationship Type="http://schemas.openxmlformats.org/officeDocument/2006/relationships/notesSlide" Target="/ppt/notesSlides/notesSlide4.xml" Id="R5baf72f63188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bd51d581c442a" /><Relationship Type="http://schemas.openxmlformats.org/officeDocument/2006/relationships/notesSlide" Target="/ppt/notesSlides/notesSlide5.xml" Id="R886c39f3398b41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f66874290f46f9" /><Relationship Type="http://schemas.openxmlformats.org/officeDocument/2006/relationships/notesSlide" Target="/ppt/notesSlides/notesSlide6.xml" Id="R3b84ae6c453649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8d70f4d7034b5d" /><Relationship Type="http://schemas.openxmlformats.org/officeDocument/2006/relationships/image" Target="/ppt/media/image4.png" Id="R1f50e9a25c8845c1" /><Relationship Type="http://schemas.openxmlformats.org/officeDocument/2006/relationships/image" Target="/ppt/media/image5.png" Id="R6d761918d106473f" /><Relationship Type="http://schemas.openxmlformats.org/officeDocument/2006/relationships/notesSlide" Target="/ppt/notesSlides/notesSlide7.xml" Id="R166689d22b0243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8bfe6df124692" /><Relationship Type="http://schemas.openxmlformats.org/officeDocument/2006/relationships/notesSlide" Target="/ppt/notesSlides/notesSlide8.xml" Id="Rf65589abbff6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98df7f44b14250" /><Relationship Type="http://schemas.openxmlformats.org/officeDocument/2006/relationships/notesSlide" Target="/ppt/notesSlides/notesSlide9.xml" Id="R74078810704641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3e6346bcd7401e" /><Relationship Type="http://schemas.openxmlformats.org/officeDocument/2006/relationships/image" Target="/ppt/media/image6.png" Id="R89fd294475a74f7e" /><Relationship Type="http://schemas.openxmlformats.org/officeDocument/2006/relationships/image" Target="/ppt/media/image7.png" Id="R105229f2095b4278" /><Relationship Type="http://schemas.openxmlformats.org/officeDocument/2006/relationships/notesSlide" Target="/ppt/notesSlides/notesSlide10.xml" Id="R7b25f66c7b6e45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5df8cf27e441dc" /><Relationship Type="http://schemas.openxmlformats.org/officeDocument/2006/relationships/image" Target="/ppt/media/image8.png" Id="R2867211c342f491c" /><Relationship Type="http://schemas.openxmlformats.org/officeDocument/2006/relationships/image" Target="/ppt/media/image9.png" Id="R347c03ba94da44ce" /><Relationship Type="http://schemas.openxmlformats.org/officeDocument/2006/relationships/notesSlide" Target="/ppt/notesSlides/notesSlide11.xml" Id="R2bae86c7d1f840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de58b54e2144de" /><Relationship Type="http://schemas.openxmlformats.org/officeDocument/2006/relationships/image" Target="/ppt/media/image10.png" Id="Rc48774221e284b76" /><Relationship Type="http://schemas.openxmlformats.org/officeDocument/2006/relationships/image" Target="/ppt/media/image11.png" Id="R721947e2ac4644db" /><Relationship Type="http://schemas.openxmlformats.org/officeDocument/2006/relationships/notesSlide" Target="/ppt/notesSlides/notesSlide12.xml" Id="Raa9ec58f496147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33e054a1ad447e" /><Relationship Type="http://schemas.openxmlformats.org/officeDocument/2006/relationships/image" Target="/ppt/media/image12.png" Id="R57debd42dbd04f0c" /><Relationship Type="http://schemas.openxmlformats.org/officeDocument/2006/relationships/notesSlide" Target="/ppt/notesSlides/notesSlide13.xml" Id="R82e771cb281248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ac210ee26443e" /><Relationship Type="http://schemas.openxmlformats.org/officeDocument/2006/relationships/image" Target="/ppt/media/image13.png" Id="R07046be2408b43c9" /><Relationship Type="http://schemas.openxmlformats.org/officeDocument/2006/relationships/notesSlide" Target="/ppt/notesSlides/notesSlide14.xml" Id="Rf84377c4cb3747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9f7805b1f94f74" /><Relationship Type="http://schemas.openxmlformats.org/officeDocument/2006/relationships/notesSlide" Target="/ppt/notesSlides/notesSlide15.xml" Id="R7043b7e4fb2d4e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72573f71b45d8" /><Relationship Type="http://schemas.openxmlformats.org/officeDocument/2006/relationships/image" Target="/ppt/media/image14.png" Id="R9342af93ec5e41f5" /><Relationship Type="http://schemas.openxmlformats.org/officeDocument/2006/relationships/notesSlide" Target="/ppt/notesSlides/notesSlide16.xml" Id="Re1a0f23978e444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a0bb023554d43" /><Relationship Type="http://schemas.openxmlformats.org/officeDocument/2006/relationships/notesSlide" Target="/ppt/notesSlides/notesSlide17.xml" Id="R07b41ae7f62b44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d2aa691e0435d" /><Relationship Type="http://schemas.openxmlformats.org/officeDocument/2006/relationships/notesSlide" Target="/ppt/notesSlides/notesSlide18.xml" Id="R76be89f911a34a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74078E-4836-4EE8-B609-EE88425B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7e9bdd2244d81"/>
          <a:srcRect xmlns:a="http://schemas.openxmlformats.org/drawingml/2006/main" l="19710" t="0" r="19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0"/>
            <a:ext cx="73818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58F85-D064-4D5E-ACA7-46EE1747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BD9AD-31E5-4233-B6F1-6C82698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790DF-41C6-4B32-BC6C-7D3C660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机器学习与实践 · 课程大作业答辩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F3F88-58BC-46CC-B256-0885F2D8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714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基于传统机器学习的</a:t>
            </a:r>
          </a:p>
          <a:p xmlns:a="http://schemas.openxmlformats.org/drawingml/2006/main">
            <a:pPr algn="l">
              <a:def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情绪日记五分类系统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55E95-176A-4C35-B943-09E2F699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30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研究目标：在保留 Django 情绪日记应用的前提下，构建可离线复现、可解释、可落地的中文日记情绪识别内核。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C826C-4679-43E8-B896-2DE6388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EB911-BEA5-4C83-9C35-031CA533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jieba 分词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025AA-7149-4CD7-A2EA-5B5E156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94073-6CEF-4C23-946A-650029E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76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TF-IDF 稀疏特征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BD5E5-A1B3-48C8-93A5-454CB34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FC260-38E8-42A2-B7D3-606527C7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6CF13-EDCE-4EA4-844F-CE2059CC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CE89F-B018-465E-ADDC-9946757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F7647-A964-41F2-8EDE-26A22319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01354-607E-49E9-ADC5-11CA888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752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为什么要从外部在线模型迁移到本地五分类？如何证明数据、特征、模型、系统四个环节是闭环而不是孤立实验？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73F20-F26E-44CB-B6A4-B96BF008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9FE63-CD37-4A67-A691-2B1776F0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4295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ADBDE-0564-484A-82C6-F79A2CB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五分类标注样本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E0498-5F5B-4F14-AD22-5929B8D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train/valid/test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E05DD9-C7DC-48F6-9591-5A3AC309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10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A75AD-67FB-4968-9FC2-DD81F63B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815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17F59-CEAF-4435-87C8-18162BD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149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TF-IDF 特征维度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48AF8-4754-463B-8316-4FE632B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4768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unigram+bigram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DD42C-7B2E-4016-97AD-FB989850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10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F14BC-BBCD-4A4F-B263-81415635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815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6F526-3A1A-4256-830C-7C304703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149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 Macro 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C73A1-6404-4772-B711-F217441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768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3C031-A609-4AC5-9220-2ACC554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B4C55-4A82-48D9-8C83-21896F1B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封面视觉：image generation / image 2.0 路线；图表证据均来自本项目实验产物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1DB601-BC2B-43A8-B9C5-D569A5D4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88220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9FC5B8-5C6D-4F80-951C-DA28811E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D1598-28D9-4B48-B7E2-622154E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ED219-125D-4F6A-A244-290673BC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673F2D42-DDE8-4BBE-8524-ADFA95A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7EF8FF8-EE7E-4D31-9544-7922CFD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PROBLEM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5A2FC-C0AF-40BF-BC46-87A12C7C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答辩的核心问题：不是“能不能分类”，而是能否在课堂环境中稳定复现并服务真实日记流程。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4EECA-56E5-4B13-B991-780ABB4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9D9AE-EEE6-437D-869F-0BC40D6C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6885A-598D-42DB-B32E-A9B12D73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现实约束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5B63C-2255-4464-AE08-105F391B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99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原项目已有 Django 页面与趋势记录，但情绪识别依赖外部接口；课堂演示时网络、模型缓存、版本兼容都会影响结果。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7BB36-1880-4543-A8D6-064E225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C3CA5-A909-49CF-80D9-8E2388A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157CE-DEFE-4041-91EE-4164B68C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任务重定义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46238-9AC4-49A9-AB60-23B8888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299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将用户输入的中文日记文本划分为：难过、焦虑、生气、平静、开心五类，并同步生成趋势分值与建议语句。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E5BF5-6B1D-436D-A4CD-501B6659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E63C6-25D8-486B-B8A3-7DE18CA5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A8E6B-61CF-4A93-9013-C8E48081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评价标准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91D6A-4DFD-408D-A813-B146874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99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既看整体准确率，也看 Macro F1，避免多数类别掩盖少数类别；同时检查误差边界和 Django 集成可用性。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8197F-D773-4285-8A80-C345E3D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11A9F-5619-47C9-901D-742AA07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973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研究假设 H1：短文本情绪表达具有可由词项和词组捕捉的稳定信号。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6D30E-B533-4C56-91C8-37BA4E5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A04D-D9B7-4DE6-BC74-85C7084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973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研究假设 H2：TF-IDF 高维稀疏特征与线性分类器匹配，能在小样本课程项目中取得足够可靠的效果。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53D36-9E4D-4001-A491-718B02D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634A4-942C-4404-87EE-BE12399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973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研究假设 H3：模型必须进入 Web 业务链路，才算完成“实践”，不能停留在离线 notebook。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5C391-2608-4421-9E78-5F525A3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DC757-1199-4D3D-A6BB-38F33C07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73B82A-FDED-43FF-B05B-D9119EFB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目标类别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F250A-D005-4515-A9F4-3E9F5703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sad/anxious/angry/calm/happy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2B801-33C7-48EE-9241-20F302E8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A3FA9-E44E-4429-AAFB-D977D131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1F14-E64E-4D67-BB93-76ACC4C2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在线推理依赖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4D1BBB-872F-4108-9610-E05404AD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joblib 本地加载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2E95B-D448-4A1E-A7A2-407B93B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7C2D3-C56C-4953-94BB-687F4FE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13E3DC-23CF-4000-806B-9C08312B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统一预测入口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98AD62-078F-474D-A73B-40F6A66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predict_emotion(text)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1EC07C-2CF4-436E-99B2-6939AD2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891C85-650E-4A2F-8CF9-696D32AF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51B974-B0F9-453C-8152-7BEB9D0F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最终交付标准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F7A20D-D8FF-43E0-90A3-4CC43A2E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数据→模型→Django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56FCF6-D8DA-4BD9-9C11-75F26019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DE6D18-8B3E-4B77-B2D1-96F09859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答辩口径：先定义评价问题，再解释为什么传统机器学习方案适合该约束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5C752B-A31B-4C7F-AF47-96BF967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89572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48245D-752A-46C7-B42A-75243AB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0316D-C2F4-464F-A49C-A522DAD1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C4508-52E3-4D2A-89A7-38EBF10C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8206835F-CD85-490D-AE45-52D1B8A1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802A22FC-8A41-4AB8-AAE6-8E2BF171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CONTRIBUTION SPINE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4B9C0-34A7-45FF-97BB-680F659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本项目的贡献不是“调库跑模型”，而是把五分类任务做成可证明、可解释、可集成的工程闭环。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BD092-66B1-4093-A876-E78DDAB0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E63C7-9E87-478B-A05F-8BD3E6C3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A0482-5AB9-46B0-924A-BA0D21EA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1：任务升级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47513-45F3-4004-AB1B-5B76BDA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从原有粗粒度情感倾向升级为五分类情绪识别，单独补齐校园日记中高频但公开数据不足的“焦虑”类别。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7EAD6-85FA-4047-B7BF-779A790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34FA5-3EE9-4B85-84E7-9967CC5E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84CEB-EA9B-4BCE-9912-A6B9ABF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2：可复现实验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BF222-985F-40D2-87D5-DDAE720B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明确数据来源、标签映射、分层切分、特征配置、模型选择规则，所有关键产物保存到 reports/artifacts。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5ACA8-1054-4C92-937D-A1402C44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B8217-F66A-4819-AC53-FAFD889F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54FA2-616C-4A9B-BC7B-FE2B5850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3：可解释证据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25B89-F906-4C9D-81C1-F82ADC2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展示标签分布、稀疏矩阵、Top TF-IDF 词、混淆矩阵和误分类对，证明模型行为可追溯。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345E9-ACF4-415E-ABD1-01F35C26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3B98B-70E7-400E-9447-B3A2744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E9F24-482B-4EF2-AAC5-069A0C52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4：系统落地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2AB92-81A0-4781-8CF3-61292CB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通过 ml/predict.py 接入 Django；预测结果写入 MoodEntry，并参与趋势图和页面建议展示。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E738D-796D-4382-8D80-CA9CD7D9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81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B8926-2904-4281-8B7A-7AC733E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答辩逻辑链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FAD4F-5DDA-420D-825D-BAF0ED8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43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问题约束 → 数据构建 → 预处理与特征 → 三模型验证 → 测试集确认 → 误差解释 → Django 集成 → 不足与改进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E41A2-26BB-4319-BB96-B118435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900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每个环节都对应一个可检查产物：CSV 数据、joblib 模型、PNG 图表、JSON 日志、Django 字段迁移和页面结果。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D0736-A145-4411-898D-C1EE4512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E022C-45A5-42CD-B927-296A1905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575B0A-95A2-40C4-BC20-76A0768A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946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最终主张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4DE95D-3974-4D9D-9ECC-AAC3155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946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在当前样本规模和课程复现约束下，TF-IDF + LinearSVC 是一个比外部在线模型更稳定、比复杂深度模型更可控、比无监督聚类更适合上线的方案。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3C948-1B72-4338-AC20-0BC05216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64381-A4EA-4273-9E99-EDDA545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证据链：README.md / report/*.md / ml/reports/*.csv,json,png / ml/artifacts/*.joblib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E583C-1FFB-4D0B-8606-4F1673E4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78527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CA197B-8736-4DEB-835A-BE3356E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10EDD-04FC-4845-9191-0544A4C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C8073-D80F-469F-A954-4A70BAEA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B8E688BB-49E2-41D5-BC3C-4FF8E585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F2253B6-BF06-41CB-82B4-9A338C3F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DATA 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7D448-2B14-43EC-A9E9-9FCA470D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数据集不是简单下载：公开多情绪语料提供底座，</a:t>
            </a:r>
          </a:p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校园焦虑样本补齐应用场景。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898fc13ec439e"/>
          <a:stretch xmlns:a="http://schemas.openxmlformats.org/drawingml/2006/main"/>
        </p:blipFill>
        <p:spPr>
          <a:xfrm xmlns:a="http://schemas.openxmlformats.org/drawingml/2006/main">
            <a:off x="662750" y="1657350"/>
            <a:ext cx="4837175" cy="280987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4af9d55dc4c2f"/>
          <a:stretch xmlns:a="http://schemas.openxmlformats.org/drawingml/2006/main"/>
        </p:blipFill>
        <p:spPr>
          <a:xfrm xmlns:a="http://schemas.openxmlformats.org/drawingml/2006/main">
            <a:off x="6790687" y="1504950"/>
            <a:ext cx="2706377" cy="3190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C860B-7A38-4AEC-BA02-735CAB02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E19C9-8CA9-47B8-A9F3-40E1AF3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公开数据：multi_emotion_dialogue 贡献 2710 条，是主体语义来源。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75326-1E22-42EC-B424-2F32F8A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E5B49-FEAC-44CB-83E9-B84819F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人工增强：manual_balanced_augment 贡献 1000 条，用于缓解类别分布偏移。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00897-D3D5-4EE2-B7C0-769B8313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83D94-8FA8-4AD7-86D3-97E8822B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校园焦虑：manual_campus_anxious 贡献 360 条，覆盖期末、答辩、DDL、导师、代码未完成等高频场景。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783BC-BC17-4EC0-9D11-C5CFD583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C491B-5F30-4AE9-9D2C-1A3690CE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7EED2-36F4-45D9-8628-5447F58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673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切分策略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D0E95-6B05-42CB-B4CB-B5B695A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673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使用分层切分保证训练、验证、测试集中五类都保留样本；测试集仅用于最终报告，不参与模型选择。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32B01-889B-4C35-A15D-5BC1984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BC59B-16E8-4735-BDAA-3CD653D5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1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CA306-866D-4D8D-B1BC-5DB4AC7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FDAF8-8555-45A3-AFBA-25B38E6F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76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A6DB3-8FF2-45B9-A4D9-A028FAAC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0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2A5FB-6647-4B17-8C9F-F950BCC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81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3B714-5DC1-412F-876A-03F1265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15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99EA3-3796-4960-947B-B2058EF9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276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866C87-76D2-434D-BB7C-5899EEAE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10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9BAF7-F342-4719-AD0C-FC1C7732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81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9C5B6-7EC9-47DE-8CA6-CE6F66A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15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7454F-9195-4EBF-A3D2-F1E9F27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276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926EC-0DFE-44D7-935D-7FB9E68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0EBCB-A1ED-4EDF-972E-236A51A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证据：emotion_labeled.csv / label_distribution.csv / data_source_distribution.png / split_label_heatmap.png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84C5F-F70C-4501-8111-96D79DB5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2293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933FA-AFF1-4B39-9042-6B9C76D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8317-35AA-4850-9616-9A3F8195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B261F-87C8-45D9-80EB-CE7514B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B12AA7A5-4BE4-4B43-AF54-FE15D20B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4F98C86-D7BA-439B-8325-2715F02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LABEL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5E80F-D7A6-4E22-AB9F-8E38EF5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标签体系必须先定义清楚，否则模型指标再高也无法解释业务含义。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3EEFD-6ADE-4DE9-9674-BC6DD5AB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0C9C5-9D5C-428F-92B9-987506A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BEA12-FAC6-459F-9037-DE16E1D0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859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中文情绪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021B0-34B3-49AB-AF93-4953FBE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6859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emotion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47BA5-FB54-4751-B22C-315305C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859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471C7-7D90-478F-B624-5BD53D5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859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DCA9A-25C6-42DF-8B72-DECF9DD5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6CC05-D584-4F5C-87B1-1AEEAEC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92E76-4FDB-46C2-8F4C-C8C0514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288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难过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68FDD-158F-4A7D-B081-8DEBDA02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288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358D-B227-40DA-BBB4-2A34631B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288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9C676-DD56-4DC5-8A34-D604C7D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288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失落、伤心、孤独、低落、被拒绝、被忽视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929DC-5A56-4038-A0FA-3A4660CB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13C5E-DE34-47B5-9665-763EC49F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34D19-61F0-4B5A-9506-5E43C192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717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CE91C-963B-4BE3-8A31-5DAF9ACB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717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anxious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01D65-C75C-422C-9432-A2A174D9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717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A29B7-3C14-42B4-90C8-839BB3D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717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担心来不及、心慌、紧张、害怕考砸、对未发生的事过度担忧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5F935-59B2-4AE8-8E8B-1AB491E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7D45B-CC3A-4D9B-89D5-FAB5BA2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9E523-E026-4C9A-900F-E493017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146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2C50D-BF91-426F-932D-01370C3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146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angry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D3FEA-4251-4CEE-A8F2-F29EC13D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146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-2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CEE25-4D25-4EC3-98AB-668BB9FE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愤怒、不耐烦、被冒犯、烦躁、抱怨、厌恶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9F7BC4-D925-446F-BA3F-3367DD12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4CA88-35C5-48E0-AC16-C7ABE53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31885-EB94-47E3-AEFB-84C30F13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575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平静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EA71F2-595C-4E2F-AA22-0347FFFC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575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calm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5BB2D1-F065-4920-B268-1B946F9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575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8AD649-A934-4D75-BC65-EB0ABB9B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575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平静叙事、日常陈述、中性提问、节奏平稳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3840EE-DA7F-4202-981D-CC77CDA6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B67E2A-7304-4DFE-85B1-7E51822A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13A5D-8F5C-4590-AAAB-32F698A2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1DB59C-F172-42A0-83F0-3DFD25FF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004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happy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6E2CA7-71BB-4931-85CA-69FA2EC5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004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+2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7142B-04FD-437C-BE70-B0BEA7CB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004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喜悦、成就感、放松、被支持、压力缓解、期待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2DC73C-7F08-4D9B-9476-C9F048E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33B7F3-4C0B-4DC1-993F-0D83B21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E9CA25-5306-4E2C-8C63-08C8357F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映射原则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AE7F91-45B0-4DCF-9D1D-3E140A2E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公开语料中的“开心、伤心、生气、厌恶、平静”进入五分类；惊讶、关心、疑问等非目标情绪删除；恐惧/担心/紧张若出现则归入焦虑。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C76C0D-4F42-44F9-9C17-2FC323D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4D8B76-8E7D-4C1D-A958-6DB8111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863F2A-665A-4A4D-B3FB-590F89A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为什么保留“焦虑”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4341F3-D6D8-4274-98F5-0A44469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课程与校园日记场景中，焦虑不是普通负面情绪：它常与未完成任务、临近截止、考试答辩和项目压力相关，具有单独识别价值。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C1DF18-7BA0-49B0-9721-A1223CE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2D93C8-9D97-4C9B-B0CE-521C6375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8EACEF-9553-416E-9337-67C6EF1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65E9EB-3745-45D8-839D-813DA86E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51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过滤信息量极低文本、强反讽样本和重复改写；用分层切分减少类别缺失；后续用混淆矩阵检查边界。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E64B29-2B24-4448-B6C2-36A779AE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B95FC1-A97F-4378-BB4F-F22B9C03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EB464E-76CA-45EF-9617-776EA2AE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121230-04CA-4ECA-B625-1E646637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43550"/>
            <a:ext cx="853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本项目不是把五个名字硬塞给模型，而是先定义可解释标签空间，再让数据、模型、数据库字段和趋势分值保持一致。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837E8B-8025-41F0-A23B-9CD70B15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FAA007-3148-42B8-96CC-48ACA09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证据：report/label_guide.md / ml/config.py / mood/models.py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D29B7B-5F5B-41FD-B7E3-14FD8626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58735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99B1D-FD49-4DBD-A154-D144B33B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21905-64A4-48A7-88F1-BF1AC50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135E1-1FD2-4ECA-B2DA-53D1A34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0CD0405-1A01-4226-AC77-556CD02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7D9EB492-2C93-4FA6-A472-DF05DDB2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C530E-0A07-4D73-94C5-891B51E4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中文短文本预处理的关键不是复杂，而是训练阶段与预测阶段完全一致。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0FB3A-5869-4E5E-BA0E-5296DB1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243CD-703E-421A-BB8D-1C96FB38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906B0-88F8-479A-88F3-2306AF29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清洗文本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0AFDF-74B2-4F9C-B3F3-444B695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去空白、统一格式、清理极端噪声符号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05E31-44C3-4049-B560-D66BEA3F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1FD26-9300-4189-A360-49CEA3E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EFAE5-6DF1-4EA8-912A-CAC89A54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jieba 分词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38BC6-9F1A-4804-A780-EAB625D9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精确模式；加载校园场景用户词典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6DFDE-0173-4502-BCF5-11A28EA6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C9A1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DA1E4-6DE8-442D-90D1-CC74F4F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65A17-7AE8-42A7-B4F3-5B838E2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停用词过滤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FC5AF-D62E-4984-B874-39FCE9CF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去除虚词、标点和低信息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44E8F-CF73-4470-A3F1-B49669BE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1632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9F178-16C9-444A-A210-634C16FA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9851A-B192-42D4-B25D-2AF5AB0B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空格拼接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BA5C9-A51E-43E7-82A1-8AE485E3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 seg_text，供 TfidfVectorizer 直接读取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7BDF8-A841-438D-9087-F3772E4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09D0D-B2D8-4F2B-A741-9A6B30C1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C1C2F-6A17-48F7-AAB9-226F26D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预测复用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C358F-FAB2-47B6-9E77-23C485D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segment_for_prediction 与训练逻辑一致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6C76C-2451-47F2-9E49-A616CC0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762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77063-0FF1-4B6F-8315-4801C47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分词示例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08E9B-7134-463F-A521-0650E6C6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原文：明天就要答辩了，PPT 还没完全准备好，心里很紧张。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C3520E-9A67-4073-85B7-D200AAD6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清洗+分词：明天 答辩 PPT 还没 完全 准备 好 心里 紧张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7CE41-3E58-4E09-8751-D2C6B790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意义：保留“还没、准备、紧张、答辩”等能区分焦虑的词项，同时避免页面预测时与训练分词不一致。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8DE39-A946-43A1-8C9B-1090E98F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762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0C0318-EC6B-4CDF-AF0E-0A76700F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5C686F-6686-42B5-91C5-161BE7A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实现位置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7E9B84-D352-4193-BA68-4E1E798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19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`ml/preprocess.py` 负责训练数据清洗与分词；`ml/predict.py::segment_for_prediction` 在 Django 预测时复用同一逻辑；用户词典与停用词集中放在 `ml/dicts/`。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53929-8AA8-4B99-B2E7-586BB7C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B7C462-47FB-4A00-85FA-FC5D69DB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避免数据泄漏：向量器只在训练集 fit，验证/测试集只 transform。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5959BE-4321-472C-B290-E0BACACB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F4BF8A-55CB-4C39-AF68-9E99177D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735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避免线上线下割裂：Django 提交文本时走同一套分词与向量化入口。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014D5A-23E0-4A48-A3F1-ADAAF982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87D67F-8784-403B-9B53-F681C6FA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避免不可复现：每个阶段输出 CSV/JSON/PNG 证据文件，便于复查。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19EA73-FB02-4D53-8941-C95D0ACE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50E21C-D942-482C-B2EE-49BB47DC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证据：ml/preprocess.py / ml/predict.py / ml/dicts/user_dict.txt / segment_preview.csv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1C356E-7AFE-4B0B-B087-E7425AC4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15148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CBD98D-F4C9-4BD8-B9F8-B85ABB0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82A28-D174-4A78-8540-3E422A9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D3C5B-7A07-4BA8-B0D4-E6EFA419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F50F18E-BC37-478C-8808-FBD1B37A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E970474-75B0-4023-9483-CCC3A25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FEATURE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5696B-3528-4BF9-B148-55914C5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TF-IDF 不是装饰性步骤：它把中文日记转成可解释、可复现、可稀疏计算的特征空间。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0e9a25c8845c1"/>
          <a:stretch xmlns:a="http://schemas.openxmlformats.org/drawingml/2006/main"/>
        </p:blipFill>
        <p:spPr>
          <a:xfrm xmlns:a="http://schemas.openxmlformats.org/drawingml/2006/main">
            <a:off x="552450" y="1651336"/>
            <a:ext cx="6572250" cy="1945604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61918d106473f"/>
          <a:stretch xmlns:a="http://schemas.openxmlformats.org/drawingml/2006/main"/>
        </p:blipFill>
        <p:spPr>
          <a:xfrm xmlns:a="http://schemas.openxmlformats.org/drawingml/2006/main">
            <a:off x="7410450" y="1672910"/>
            <a:ext cx="3714750" cy="21310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C476-5A51-4185-964E-F4A63D6D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038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9DAEE-2B63-40E4-86A0-57A78D13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E8029-9BD8-4958-9E19-D15D1CD8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003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E41DF-F117-4006-A473-0CCFFF1C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03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TfidfVectorizer(tokenizer=str.split, lowercase=False, ngram_range=(1,2), max_features=8000, min_df=3, max_df=0.9)。训练阶段重新 fit 向量器，并与模型一起保存，避免向量器和模型不匹配。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C1BA1-C242-4133-ABF3-C46B920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C9EA1-A6DC-44FA-8AAC-662E189E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49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3436×3439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02AA3-9FDF-4439-AF9C-0C2FBC5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训练矩阵形状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0A899-12DC-456F-BD3A-E46FD6F5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样本 × 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26F99-BB87-432C-A194-EB6A34D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E02DC-B7C1-485D-A5B4-7B992C90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149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46989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4F93B-ACF5-4AFE-A668-363DAF04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483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非零元素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6AD1-F87E-4D20-B047-37BEFE67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102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总元素 &gt; 1181 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E0C45-2058-4814-9B0B-9ED52C33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CBA7E-5F8A-47F7-9A34-6584B05C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149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99.60%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CEF0B-6C13-4A84-9127-9941536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483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训练稀疏率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9853A-CE1A-4DF4-B09A-9AD164C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102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sparsity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83A4D-3F59-4CEE-A19E-9F859C9A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507C1-3045-4708-8F55-8DFA8DD3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13.68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71586-7C7A-48E5-BA5E-44F1522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平均非零特征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CB054-4ADC-43B1-9757-B3CDD7D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per sample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E42DD-C933-4E3D-A3CE-8F93B51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C1461-C330-4630-8A2C-D385DBF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证据：tfidf_sparse_matrix_spy.png / nonzero_feature_distribution.png / sparse_matrix_stats.csv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987A9-4E8D-4CFD-891A-BD26605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14377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078619-33B6-43F9-B465-E68785F7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0E5F1-E526-4F86-8D33-D5AE607D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A134D-4F21-4455-85C7-42751EA0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0B17EB5-F200-4DFD-BBC2-F69CF073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C55C46F-C449-49ED-8F35-09399CC9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MODEL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1B368-01B5-47F9-A06B-88149D1B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模型选择遵循“先可解释、再比较、最后落地”的原则，而不是盲目追求复杂度。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F0B5D-5300-44D2-8739-0677F66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88D7B-03F8-4E7C-B245-FA5C3900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32603-D132-4F5E-804A-8097CC06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2402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9921F-ED4F-4812-B1F3-15351241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2402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9A07C-9700-4F40-8C06-1F3063F1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2402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E1687-C27C-4BAB-B537-B261DA6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630EF-1185-4E9D-BFFD-9BCAE41D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MultinomialNB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DFE4C-CAA6-458A-816E-10C8C4C0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2407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词项条件独立，适合计数/概率式文本分类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29C02-782E-4A8D-AA63-1E9932A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2407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训练极快、基线清晰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EB37A-2C25-4F50-9445-478C7B4F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2407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无法充分利用复杂边界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EDCFF-7965-4621-9FD1-222C98F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2586A-DF58-42CD-846A-0D17038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LogisticRegression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E21C3-791C-4C9C-A86C-29F2F139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线性可分概率模型，权重可解释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09089-DF93-41BA-8000-E276F1F9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2412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稳定、可输出概率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BA1E9-28DE-4478-906E-92A9234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训练时间略高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2E2E3-5DA1-447A-9FDB-EEE82A7E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93D94-4562-48BD-B998-B4B56490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99294-42A8-43CB-BDF4-2E45D946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2417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在高维稀疏空间寻找最大间隔超平面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26A07-A06B-4FCC-994C-5F17CD5E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2417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适合 TF-IDF 稀疏文本，泛化强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79A41-3774-474F-A0C3-D9493089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2417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置信度需额外校准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5C7C7-5071-4872-9496-CCA465F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3DB2D-FAB9-4758-8AB6-6EEA2FC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C33A8-97D3-4F52-8537-0131D52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为什么不是深度模型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4390F-727D-48E9-82C8-1872798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样本量、课堂复现、离线演示和依赖安装都要求方案轻量。深度模型可以作为未来方向，但不应成为当前系统的最小可靠方案。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3BEAE-83B2-4E67-8246-2D26349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BDC566-7129-4AD4-85C3-F0C2A20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A75C5-E65D-4F5A-970D-70E1AD8B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为什么强调 Macro F1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EB3703-F176-48BF-AB27-FE9E735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五分类中每类支持数不同；只看 Accuracy 可能掩盖焦虑、开心等较小类别的错误，因此主排序使用 Macro F1。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375CB-BAF1-4D98-BCCB-C8AC4853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37579E-671A-4B69-8721-FBD90B8C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E77511-A9A0-4779-992A-7210C61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模型选择规则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03FFCC-B64E-48D2-BE49-38DDB8E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51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验证集 Macro F1 优先；若差距在 ±0.005 内，再比较 weighted F1、accuracy 和模型偏好。测试集只做最终确认。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8C045F-0FCC-465A-B999-34B891B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32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A525F2-AB1B-4CA5-BD77-B5850A35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617360-B316-4DD7-B5DF-B4CD91E5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4C576B-BC2E-457D-9469-5826CE66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本项目的模型选择不是“哪个库更高级”，而是在高维稀疏文本、可复现课堂环境和 Django 集成成本之间取得工程上可解释的平衡。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F7A157-DF04-46A1-80F0-5997855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A7BA89-35B7-470A-9A84-4D5C540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证据：ml/train_model.py / best_model_info.json / train_log.json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09BFFF-815D-47D8-898E-91F6E10A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70206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D82DB9-61BC-459C-8FF9-565A8E2E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C72D6-8B85-49BA-A5AA-EE35AFB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88ABE-F045-492C-86AF-665F259D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0BDC1B2D-429F-466D-B11C-3B03982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E6F8A8D1-494B-457C-89C2-F357F6E0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EXPERIMENTAL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80201-99FC-4FAF-A743-8242F833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实验设计的重点是防止“看过测试集再调参”，因此验证集和测试集承担不同角色。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1079C-F17B-4AC6-B6BB-26B3CDD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9ED16-5733-4701-B10E-493D9D41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F0F44-013B-4E1D-8E3A-430A201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240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8F092-488F-4BF4-9F8D-249521FB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240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7606A-B33E-48CB-9A74-5B9CF076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40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6F14F-E04E-495F-A1DF-393A4FEC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AE737-5DBE-412F-97FE-9B6F905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数据切分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C6A14-B845-42E3-8400-1B6263C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669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emotion_labeled.csv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6BB75-C793-4851-8F0F-BCB9F00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669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按 label 分层切分 8:1:1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5ABAE-90D4-450F-A815-BD9B0A8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label_distribution.csv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2EA66-2762-4A5B-9E74-D2EBA98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9D90A-1161-430B-A265-2A64F68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特征工程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E977E-22B9-4D2B-840E-ED21AB7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98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train/valid/test_segmented.csv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DEB0A-F21C-4F96-B11F-DAAD0888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98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fit 训练集向量器，valid/test 只 transform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9E061-BD22-445B-8270-28245D0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98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tfidf_vectorizer.joblib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DB7B8-9B04-4F68-9159-08070BF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08403-FFDC-4687-ADFA-32BB11C0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FA05D-4D9D-4E8A-9A17-8CAC4005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527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训练集 TF-IDF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8D584-DD98-439C-8B99-C99D35E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527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 NB、LR、LinearSVC 三个模型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E6C70-AA67-45EC-BAB3-DD3C9F06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7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train_log.json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64A41-8CE3-4103-A037-8BAED800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072551-6E8D-4BC6-B343-36A8CB07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0BB85-CEE4-44EE-A2AA-2B8C84EF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956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验证集指标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E10C61-DE88-4A89-A84B-24516C5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956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以 Macro F1 为主，记录 tie-break 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027892-2A47-4A4D-804F-9ED4CD7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956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best_model_info.json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E592A-BA46-4A9C-AAAC-DC12E85B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B69508-DA8C-4E1C-A0FF-5498996E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最终评估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B646F1-5F67-41B3-9168-7C2B6074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385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测试集 430 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6A6AE7-B0B4-40E4-8B91-77EC471D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只评估一次，输出混淆矩阵和误分类表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2582C-8F80-4FF8-BC34-9A1F34F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evaluation_log.json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0FC05-4434-4062-9E17-F626F79A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EC1429-320F-40AA-A961-2115878F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评估指标：Accuracy、Macro F1、Weighted F1、Macro Precision、Macro Recall、predict_ms_per_sample。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2CD48-58F4-4C9F-940B-BDA0A53B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C6A19F-5B09-469F-985F-86EC5527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公平性控制：三个模型使用同一套 TF-IDF 特征，避免模型差异被特征差异污染。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47DE6B-98BE-4FEE-B7B0-37407260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FA6B68-58D9-4D50-AF19-ACA65E9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复现控制：关键参数、环境版本、模型路径、向量器路径均写入 JSON 日志。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8D0AC-3867-4DCB-9145-D13E33B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771F37-D8B4-4B1C-901F-14346581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8D38A9-DCB9-49B2-A01C-39C1AB79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监督模型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DB18D5-5209-4733-824F-1CC51CFC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NB / LR / SVM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EFC7D8-4AFB-44BA-8173-F6E1C2E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28D92-D69D-4E19-A97C-23C0FAD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29AE45-61C0-46B9-A929-F0FA53EC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主模型规则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1617C4-6EB7-4884-AC06-0F15696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validation Macro F1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A0662-A84D-46FC-B678-EC9E5E6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12EB2F-768D-4562-8392-60B25C1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6401CA-D3B2-4426-B21D-A393E53E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最终测试样本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89E5A2-7AED-4D0B-8E39-F840040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只用于最终报告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F3C0E4-064F-4502-82A4-762A0200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1EEAA0-1D72-416B-80E3-59F269C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可复查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E5928A-3833-4557-AAF2-74D498C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实验产物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76DE17-4732-4CF9-86FF-B7E0567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csv/json/png/joblib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90DB52-0C4B-485F-86F4-7F6767DB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E9C571-C79F-43A4-80CB-B1D52DE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证据：split_dataset.py / feature_engineering.py / train_model.py / evaluate_model.py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2FA755-D7A0-4079-927E-7D8E2B2E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14117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00A7F-84A4-41CA-8DD6-F584BB8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21332-29D0-47E3-9A87-F1FDFB8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AB2F5-F383-4B86-AC73-BC504C3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D8D95BBD-F42D-40A1-BCC2-76E3A42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DF6FF4C-863A-4ADC-99E2-F7D7BC7B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VALIDATION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117FA-E51A-47D6-8E74-A7FE6EBB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验证集结果显示 LinearSVC 在宏平均 F1 上领先，且训练成本仍保持轻量。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d294475a74f7e"/>
          <a:stretch xmlns:a="http://schemas.openxmlformats.org/drawingml/2006/main"/>
        </p:blipFill>
        <p:spPr>
          <a:xfrm xmlns:a="http://schemas.openxmlformats.org/drawingml/2006/main">
            <a:off x="655679" y="1524000"/>
            <a:ext cx="5403767" cy="304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229f2095b4278"/>
          <a:stretch xmlns:a="http://schemas.openxmlformats.org/drawingml/2006/main"/>
        </p:blipFill>
        <p:spPr>
          <a:xfrm xmlns:a="http://schemas.openxmlformats.org/drawingml/2006/main">
            <a:off x="6524625" y="1691397"/>
            <a:ext cx="4333875" cy="267510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F1DCE-A281-45F4-9107-7FD6A62C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6DB01-794C-40DF-9888-728B75A1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76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4E1C8-5478-4DD9-BD7D-1CE998EA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101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 验证 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7FBD3-7DB1-4152-9E4F-51C8548A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721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验证集 429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C7667-855E-4DDB-B0CD-2AA1611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F3E17-60C0-448B-B00A-A94CFC92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76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0.9032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A43CE-9846-4783-B8E6-250332B9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01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LR Macro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A1BAD-5641-4049-A910-9E132430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721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次优模型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949D2-A22F-4B7A-81EC-66DB96F9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9624C-ECCD-4BC0-BD8C-BFFA7C3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0.0178s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70DF8-9679-4702-AC89-ECA7EB47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01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SVM 训练耗时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A8811-DAC7-4D9C-AF5B-00F0851D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当前数据规模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59999-D5A6-48F1-9233-AE1C0AD9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8B5D0-55FB-4C28-A542-561C546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1AC0B-172F-4A07-A8D9-C64341D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914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A88DE-F849-4DB5-95AB-B7B1F1F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006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 同时满足：验证指标最高、训练耗时可接受、预测速度接近实时。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301D6-46B8-4736-895D-BA8F274D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76463-EE71-44E9-B3E6-9B44D67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NB 速度最快，但验证 Macro F1 低于线性判别模型。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958135-35B3-468C-BE0B-983891CE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AB342-205E-4740-8CDF-7C0F8A3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LR 具有概率解释优势，但当前验证集指标略低。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30793-3901-434C-959D-128A6048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29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9C2BC-BA7E-4FB1-94AD-A8A5F6B1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 与 TF-IDF 稀疏空间匹配，作为主模型更稳。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F8E9C-391D-46F7-8A32-FEA066DE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DBF1E-9AA3-48C1-97E3-B89C736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证据：train_log.json / validation_metrics_compare.png / training_time_compare.png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14EAD-CBC7-4C45-8A0C-B29FEFD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51801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DCDF11-D848-417C-99B9-5CC1E620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7C1B-F1BD-4CEF-86FF-5DA6B331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289CC-F811-4117-B52E-98A57E2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D29D502-1F4C-4BC0-97B7-2472AE0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3D9DCF06-DCD1-4C9A-A62D-26F3D99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TEST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0CE3E-C4B6-434A-96F7-052A09F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最终测试集确认：LinearSVC 不只在验证集领先，在保留测试集上也取得最优综合指标。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7211c342f491c"/>
          <a:stretch xmlns:a="http://schemas.openxmlformats.org/drawingml/2006/main"/>
        </p:blipFill>
        <p:spPr>
          <a:xfrm xmlns:a="http://schemas.openxmlformats.org/drawingml/2006/main">
            <a:off x="683419" y="1504950"/>
            <a:ext cx="5072063" cy="28575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c03ba94da44ce"/>
          <a:stretch xmlns:a="http://schemas.openxmlformats.org/drawingml/2006/main"/>
        </p:blipFill>
        <p:spPr>
          <a:xfrm xmlns:a="http://schemas.openxmlformats.org/drawingml/2006/main">
            <a:off x="6191250" y="1646464"/>
            <a:ext cx="4238625" cy="242207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FA6C6-1B73-4A18-86D9-48F92755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7CBEC-C586-4E03-8515-B618E677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957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34A78-DABB-49EA-BD48-BF84ED9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607DC-A035-44FF-99D9-84505DA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F6A82-FE38-48F4-85C4-D9DE599B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5F074-970B-47F7-B1A8-F3789E59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C6552-0578-4A24-9915-C6F524C4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958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5C287-0F9F-4CF7-9B20-0ECA3B29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624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难过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5EB1E-0205-447A-A754-DE4EC2ED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0.9390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7B23D-4304-4392-BB46-08E3AC29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0.8851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DC832-1958-4E97-A395-A088A860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44151-F885-4DEE-B5BD-8EB37E7A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87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2426B-8896-425F-A124-DC0D999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625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721B8-39C9-4CA5-B686-E6B1136A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291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4E202-2C37-47F0-9405-B3C9EF3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0.9483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22EA9-85C2-4F56-9321-587F5030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0.9821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7A133-E0EE-4691-8EA6-22EB9FB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0.9649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02031-1A93-4B40-84B8-5E18F07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0A65E-FC14-4F50-8228-13A164BB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292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6F278-6FA2-48AC-A3F6-20DBE0AE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958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17FC0-0623-49FC-BCA7-C1E64464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0.9237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FAA5C-F9D0-42BB-ABF0-BE01BCE5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0.9316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3108A3-36DD-44CB-81F9-D78DF482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0.9277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002ED-DF14-4E12-8A7E-C97AF6F2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AE436-1488-4729-8A76-5ADFD2DB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959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7A440-AF38-4125-AB91-A4A13FE9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625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平静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AB804-5A77-4D00-A360-4239A37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0.8763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A6F83-0EA5-488E-A14D-23CE999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0.9341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01C20-EBF2-42D0-B234-D5562704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0.9043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98ED8-5D00-4111-8E83-323C35E4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91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763349-3340-4A92-A2A2-0437C429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626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E7DAE1-3934-4575-B1C2-7C8B7F35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292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0A01E0-79EC-4C8A-B5FB-2C7EA88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0B54ED-02C4-4F0B-83A5-AAB19E7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0.8734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9F92EF-1F15-4167-A0BF-89909FF4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0.8961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FB3814-C4D9-4CC7-9D3F-FE7EDF2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AE3166-485A-4373-B4BC-BF6D17C5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D2DCF2-15B7-419A-9F8A-0E9E992A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672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0.9186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12D017-58D4-42C5-9F38-24BEC51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006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9700D5-E762-4DE0-9DE4-75443BBA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625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测试集 430 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7AF24D-6111-4F04-B965-DAC0583A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95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2CA4E0-BCD7-482E-9D8C-680A5C7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672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C1140F-C21A-4230-91FE-9B309C21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006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Macro F1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3E9162-D91E-4EFD-8402-D72130F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625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类别均衡指标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888C05-B6F8-4230-820D-059A196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95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1198D0-6138-4AB6-949A-E3925F5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8672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0.9184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76FE87-508F-407F-9F55-F9314214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006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Weighted F1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A2FBD5-3720-4DDF-8717-8A00F159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3625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样本加权指标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E2530D-1BF6-45FC-A1D7-5B97D0DD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340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ACFF80-8B1C-4F6B-9D2D-25D937C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7054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0.000368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9678DB-23BD-47EC-A6E1-3EAE29E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0388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ms / sample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ADC3D3-DE2E-44FC-A58C-04014F53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2007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本地预测耗时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90A452-558D-4BBD-8EAD-35C50D9B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D0EF78-8E2D-4D02-88AC-333332B6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证据：evaluation_log.json / test_model_compare.csv / test_metrics_compare.png / f1_bar.png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833D9A-90B5-4AF1-BF6D-D9AB9F3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69495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77FBD-5C85-439F-A273-2B8484B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58D1D-FE9C-47E3-BED4-FF573A6A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C2B8D-1544-4619-8AC1-BB2532A8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D7A97473-391B-4D52-8A75-CD1365E0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C3CAEB2-8FAD-4972-8AED-295352FF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ERROR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B3244-978C-4283-A24C-AB168FD9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误差不是随机崩溃，主要集中在情绪边界相近的类别之间。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74221e284b76"/>
          <a:stretch xmlns:a="http://schemas.openxmlformats.org/drawingml/2006/main"/>
        </p:blipFill>
        <p:spPr>
          <a:xfrm xmlns:a="http://schemas.openxmlformats.org/drawingml/2006/main">
            <a:off x="635794" y="1504950"/>
            <a:ext cx="4243388" cy="385762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947e2ac4644db"/>
          <a:stretch xmlns:a="http://schemas.openxmlformats.org/drawingml/2006/main"/>
        </p:blipFill>
        <p:spPr>
          <a:xfrm xmlns:a="http://schemas.openxmlformats.org/drawingml/2006/main">
            <a:off x="5286375" y="1620482"/>
            <a:ext cx="3905250" cy="340748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041FC-D650-4C58-969D-B60A72A6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B20C6-DE23-497E-B3AD-FDFEF0B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D9188-B307-4B45-AFC0-DEF692AE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1419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主要边界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3386B-2A48-4A40-B00B-82F13CF7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4192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难过 ↔ 平静</a:t>
            </a:r>
          </a:p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 ↔ 焦虑</a:t>
            </a:r>
          </a:p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 ↔ 平静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84ED6-45EC-4DF9-AB43-78FF78E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74468-5DC2-47F2-952E-F3588852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26CA7-229E-42BC-A9BD-474D936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419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原因解释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D1D50-78D6-43D6-B5F1-298C532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81400"/>
            <a:ext cx="14192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短日记常省略上下文；同一句可能同时包含压力、失落或平静叙述。词面信号不足时，线性模型会靠近相邻类别。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D2AF8-CC31-4598-B1CC-512DC28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25DAB-E980-46DD-92A4-5583CF3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19750"/>
            <a:ext cx="963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焦虑类别 Recall 达 0.9821，说明校园焦虑样本补充有效。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65A87-CC56-4ECD-804C-96CD580D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6065F-CF97-4B2B-ADBF-C89C1492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67400"/>
            <a:ext cx="963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开心与平静、难过与平静容易混淆，反映“情绪强度”比“情绪方向”更难区分。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C12D4-22CA-4E47-B185-3DC528CC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53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4D37A-C425-43E2-8EAA-8BC77CB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15050"/>
            <a:ext cx="963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下一步应补充真实日记长文本、加入置信度阈值和人工复核机制。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D3DE8-4C51-45D2-9D75-4E98D434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E9A32-64C5-41F4-AAB5-14C1D3E7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证据：confusion_matrix_svm.png / svm_error_pair_heatmap.png / error_cases.csv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32B92-B1E8-4B5D-884D-C6BB9D0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12649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10BEC-20DA-4D7D-99D8-24F1D541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99C5-87A1-4807-982D-3294B1A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3A7DB-0908-48B6-91C0-E4606AC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4D64B8F4-F072-45CA-8FBC-A939CB5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3C671622-AEE3-44BF-B5D5-981FD40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INTERPRETABILITY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A1B3C-4DBC-404F-9347-CDA93620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Top TF-IDF 词项提供了可解释证据：模型捕捉的是情绪表达线索，而不是纯粹记忆样本。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ebd42dbd04f0c"/>
          <a:stretch xmlns:a="http://schemas.openxmlformats.org/drawingml/2006/main"/>
        </p:blipFill>
        <p:spPr>
          <a:xfrm xmlns:a="http://schemas.openxmlformats.org/drawingml/2006/main">
            <a:off x="1909388" y="1524000"/>
            <a:ext cx="3210674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FBD4D-B5CB-40F2-9DEA-BC329387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13C77-17EB-4C5F-9AB0-CDC57D38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B91AF-5081-4FC4-BDDB-EFE9526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240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D61D9-F782-41A5-BD83-F94919DD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9775"/>
            <a:ext cx="3371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“还没、担心、准备、没准备、准备好”集中指向未完成任务和时间压力。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B87A3-DCE2-403C-81B7-0C6E74A0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33BE1-BB22-4AA9-89DB-39982AC1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C58D3-E4CA-4F59-A889-F5D6E47D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384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2C611-2202-4134-A383-02B47E2E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3371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“开心、终于、太高兴、太好了”直接表达正向情绪或压力解除。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BAD18-FC9F-4CD1-8DBF-49BEB478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2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01B9F-078A-4E98-AC35-F85D66C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E076E-B9A0-45CF-AA7F-6C285E03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5287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生气信号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A2EDC-664F-479A-89AF-65ACBEC6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38625"/>
            <a:ext cx="3371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“真的、这样、怎么、不、这种”更多对应抱怨、反问和被冒犯语气。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BEA5B-54D4-4982-94A1-7FBB633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3714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0C0DC-BF61-41FB-91AE-3785255A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5FC79-4EA0-4F77-9BFD-866B7E4D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6730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EC73A-81E2-4B9E-90C7-A682975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530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可解释性不是只看一个词，而是结合类别词项、混淆矩阵和误分类案例判断模型是否学到合理规律。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B0B3A-7E53-4C92-87D3-32821D7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E6647-34FC-4EC6-ABE2-CE08B6CF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证据：top_tfidf_terms_by_label.csv / top_tfidf_terms_by_label.png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9F50F-B44A-4F3C-BB33-7EB0C0EB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739992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23B327-CFDB-41FB-BBA8-1BC12D1D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A62B1-218E-4B22-A80D-0B0C0BEF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AAAB2-C7BE-4595-A7D5-A99950E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A952C639-6BA2-44E7-AE2B-F22AC7A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3A9B9685-6D9F-4B6D-8A90-6345C073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DJANGO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D45D8-7360-4D50-B3B3-E0446F2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模型已进入 Django 日记流程：用户输入、模型预测、数据库记录和趋势展示形成闭环。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AA82B-A447-4E37-BDF9-0AF9724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3432D-61C5-4490-ACA9-AD8EECE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BC5FB-EB8B-48A8-9375-466ABBA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C0891-98B1-498B-BC88-8E63F98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457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mood_note 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37FB1-07C0-4818-90C0-8101874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2400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BE9B5-9CF5-4AFC-A2C2-BB348D84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0E9CA-8B9F-452D-A2B2-8377E16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764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预测入口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7428A-D430-45D3-AFE2-C3B220A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81200"/>
            <a:ext cx="1743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mood/views.py 调用 predict_emotion(text)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C5929-143A-4377-AA04-4A79D80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240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C9A1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615A9-CB19-4B60-B370-7D92025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CF1D2-A627-4CB9-B341-039C76F2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76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9A9B8-D679-4257-A9E8-51BE72F3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TF-IDF vectorizer + LinearSVC joblib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9C90B-7383-4C55-A898-E3CBFFC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240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1632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7A86E-A636-4B7B-B51C-1676B05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EDD45-DFC8-4926-A5A3-F50F4FE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30F77-1948-4D8A-A3A6-F023E056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MoodEntry 保存 label/score/model_name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E8EAB-3D3F-4812-8873-A759E29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239FA-243E-4560-8F0E-C52AD608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A8C34-B2CF-4255-91DC-81EB14BA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76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01522-0FD5-49E7-B274-47E14AF7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812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情绪、建议语、历史记录和趋势图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46be2408b43c9"/>
          <a:stretch xmlns:a="http://schemas.openxmlformats.org/drawingml/2006/main"/>
        </p:blipFill>
        <p:spPr>
          <a:xfrm xmlns:a="http://schemas.openxmlformats.org/drawingml/2006/main">
            <a:off x="6522244" y="2857500"/>
            <a:ext cx="4167188" cy="23812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4BF5D-F3B7-40CB-AFF2-5EA1FB1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0958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08578-FA34-4DAD-8289-8440218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数据库字段同步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A8B54-B337-4561-B6C6-C4570CCD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emotion_label：0/1/2/3/4 五分类标签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sentiment：sad/anxious/angry/calm/happy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score：-2/-1/0/+2 趋势分值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model_name：TF-IDF + LinearSVC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analysis_message：对应情绪建议语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analyzed_at：预测时间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EA6BE-81A8-46C8-978E-B3C3555D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F5BC3-A0EC-4701-97CF-81C79434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CAF49-DFFE-4199-9F7F-2D26636A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工程结论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244F0-5022-44AD-99EB-1BA6E18C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38800"/>
            <a:ext cx="824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本项目没有重写网站，而是把识别内核替换为本地传统机器学习模型；这使实验产物可以被页面真实调用，满足“机器学习与实践”的实践要求。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A36998-A420-4B4E-AC74-24083763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4E7BA-D9CE-461D-9A4F-B0E79B7E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证据：mood/views.py / mood/models.py / ml/predict.py / static/mood_trend.png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873773-5BC4-418F-908E-22057E8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3852932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C6B91-DE55-4C7A-A7BB-AF0529E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78196-9367-43EC-A871-7165BFC8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16C11-EA4E-4E0B-A108-D916FB36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06F9A8C6-8247-4D18-976B-B02664F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79681945-E117-4863-9CFC-3B16933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REPRODUCIBILITY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0097F-F76E-449B-800D-5FE026EE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可复现不是口头承诺：从数据构建到网页运行都有明确命令、产物和检查点。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95BBF-D553-4B2B-BBC7-60DA2EBD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136E5-2E1B-49CB-8971-6B5DC7DA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BFF3A-52F5-44DF-A6F1-3209808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8592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C23AD-5470-4F6D-B25C-D9447269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8592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B0235-E462-471A-8AC7-49C1E026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807C9-81A5-4899-A359-7CA8B84F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数据构建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D4407-BF0F-44B8-90E9-48A272A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859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ml\build_5class_dataset.py &amp;&amp; python ml\split_dataset.py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7F80E-B78A-45F1-9BD7-5F80146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8597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emotion_labeled.csv / label_distribution.png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67AFE-E728-40FF-B631-306EEAA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FBA8D-2377-4CDF-883A-2F8DFB9C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预处理与特征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92536-42EE-4885-AFF6-F57808A5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8602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ml\preprocess.py &amp;&amp; python ml\feature_engineering.py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242D2-2A93-4E4C-A080-2B1519FB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8602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train_segmented.csv / tfidf_vectorizer.joblib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33EA5-0472-4CEC-B234-49768E4E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F1BBB-1935-4027-B1C5-43EBEABE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监督训练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11E79-89FF-414C-BB22-82A8C6BE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860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ml\train_model.py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58C03-07B5-422A-A9A9-46561A3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nb/lr/svm_model.joblib / train_log.json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8A755-5A49-462C-82DD-F3B7E45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645CE-5F38-4D01-AE5E-EE996A53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测试评估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398A8-9775-4488-A46F-D092542A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ml\evaluate_model.py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730A7-155B-4F06-9012-73C50A7F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8612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test_model_compare.csv / confusion_matrix_svm.png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0241C-649D-4FE4-AADC-D19966B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35F3D-D1C5-4939-8FBE-2EE4540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网页演示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AD444-416C-4E24-AAB1-C031E4D9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861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manage.py migrate &amp;&amp; python manage.py runserver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9A9114-D111-4CBE-9050-813D77B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8617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MoodEntry 记录 / mood_trend.png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14ACD-B7EC-4C0E-827A-A216B97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FDC8C5-6FCC-42CA-8B09-C16DA7F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0BCC1-CF5D-422B-9D1B-C26A44AC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环境说明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C1C774-B0BE-46F9-9457-1EA00115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当前训练环境为 Python 3.9.13、scikit-learn 1.0.2、joblib 1.1.0；正式演示若切换 Python 3.11，应重新训练并保存 joblib。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4FD16D-C5BC-4DD0-A8F1-6F16B74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20F1DD-14E5-4E50-B6C5-5D5EF0F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833DC5-4187-438E-90E9-F0EFC82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957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版本风险控制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E1B2FE-389B-450B-BFE1-1A69D2E4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81525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scikit-learn 不保证 joblib 跨版本加载完全兼容，因此报告中记录环境版本和模型路径，避免“能跑但不可解释”。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58B418-C328-4BAE-AFE2-FFDC9B5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C6EF1F-3F68-43A0-8451-61A7FB1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0CF357-C3AC-48CB-81B8-C0DA0BF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答辩检查点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04E87F-743D-4853-86D0-114F5EFE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815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现场可展示：CSV、JSON 训练日志、混淆矩阵、稀疏矩阵、Django 首页提交和数据库记录。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545032-A9BB-468E-8F0F-75949B8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706965-6A73-432A-ADBB-E3D4CF28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271011-1254-415E-9D71-ED27C17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864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E673DE-41F8-4282-8659-8AE0CECE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86425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这套流程可以从零重新生成数据、训练模型、评估结果并接入网站，因此不是一次性截图工程。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4BD788-F968-4897-A852-21B0D89F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3BDE15-A06F-4C4A-8C02-51819155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证据：README.md / requirements.txt / ml/reports/train_log.json / evaluation_log.json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D130AA-8D1B-474C-9E99-4318CFC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345398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5D3CFD-6B31-4D5A-905F-8BECCD16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C215A-3763-4BF7-8A25-B503F0A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22A4C-9C37-4DF8-8D5B-D4627C36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08CD8B7E-0E59-4E78-9CD1-5E74F76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EF665189-4168-45E3-88DA-826DBC0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CONTRAST AND EXTENSION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01585-208F-46B4-AE81-66099D4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对照实验说明：无监督聚类能展示结构，但不能替代监督模型作为主系统。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2af93ec5e41f5"/>
          <a:stretch xmlns:a="http://schemas.openxmlformats.org/drawingml/2006/main"/>
        </p:blipFill>
        <p:spPr>
          <a:xfrm xmlns:a="http://schemas.openxmlformats.org/drawingml/2006/main">
            <a:off x="876300" y="1524000"/>
            <a:ext cx="3829050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3E28F-3034-4427-8AA0-ABB69DC0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8B6EA-BC4A-4B32-B332-6447A9A7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811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93EC2-F874-43BB-AD47-F321CAA3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11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B16FA-BB61-4B66-9D01-AF671B36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811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ABAFA-065E-412C-B0CA-59D24D8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811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0EDF2-72F0-4D70-A2C9-4F2B465D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FC285-CC88-4602-80B8-FA8DB7B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4312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TF-IDF KMeans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42A84-6327-40E7-9A6A-0F7CFA4F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0.6834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4387B-67EE-4F9B-A8C8-B89317F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0.6130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E1575-6EF4-4421-A88E-71C80EE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无监督拓展，需后验映射 cluster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775A-80CC-42FE-93B9-904643A8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92FDA-4CAB-4257-96CC-0562380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050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LSA + KMeans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696BA-7629-4EA2-AF5F-6DF17B9E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050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0.6994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6453C-3169-4473-9D02-90A1544F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0.6876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4C7CC-18F1-4695-9C10-A9B24A14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可视化更稳定，但仍低于监督模型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F8C4D-B699-42D9-9F7F-A62A032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E2269-DAE9-41FB-B927-9157F351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6702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8DBD1-A26C-4D6D-9A2B-84561639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670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6C0BA-C246-4E43-9BFA-0037536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670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B2EE3-3072-4358-8C50-9206C9DE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6702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最终接入 Django 的主监督模型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4600C-9CF5-48C3-8574-FD7A4E6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4E512-CFA1-433B-AB0B-F2EB15D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C6D82-79E7-496E-ABE7-39635724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38525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Hugging Face 对照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FACA1-3875-4A24-A59E-B1ACCB05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41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项目保留 hf_predict.py 作为旧方案对照入口；当前机器 transformers 导入因 urllib3 依赖冲突被记录为 skipped，不影响本地主模型评估。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48716-C82E-4A2B-B68F-0DAD081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1FAF2D-7C16-423F-A686-974A6167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7562A-2B3B-49A5-B15F-DF86B5CF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339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为什么不把 KMeans 当主模型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9815EB-F584-4A76-ADE5-E39910F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19650"/>
            <a:ext cx="441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聚类标签本身没有情绪语义，必须根据簇内多数标签后验解释；它适合课程拓展，不适合直接给用户返回情绪。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535BFF-1302-49E5-A69D-B377E79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2A6D47-2348-4BD3-A67E-D0BC0BF2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9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0.6994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4CEF1-FFA1-4B9E-AE9A-31DA117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最佳无监督 Accuracy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7BDAB8-F952-41D8-A3CA-3DA73B9A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14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LSA+KMeans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434FB7-5D16-41F1-8FE0-AAE081F4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F8EE4A-0CB6-49D0-A1CD-F9C5EC75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9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748A28-734E-4302-A5BE-E9624EE7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53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监督 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DDE280-B921-4D9C-8169-F14980B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14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F3E868-1858-4F8F-8653-A1E869A6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0D52C0-7BBB-4A2C-A50A-BAFA98F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证据：kmeans_compare.csv / hf_compare.csv / kmeans_vis.png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AF6745-2EC7-4D7C-B8DA-2F1F40DE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888301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DC443-35AA-4216-B950-C66A12F1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EB201-A4D9-4A06-818B-F3EE94F6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91E07-A626-4EA2-86C1-BD52DF1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725413C7-9730-4421-94FF-1E975F8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B2CC54E7-456F-48BC-B48D-44BB1309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LIMITATIONS AND 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B1948-460E-4D03-AE3F-6B41926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不足与改进路径必须讲清楚：当前系统可靠，但还不是面向真实大规模用户的最终模型。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995D5-50A8-4D1C-A027-CC9026B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6C7AC-D1FC-4E09-90E3-8EB7F9C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08BD0-4542-444B-AB22-367B81A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局限 1：数据来源仍偏小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69B62-A2F6-47BD-90EB-B4CD3154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公开多情绪语料与人工校园样本能支撑课程验证，但真实日记表达更私密、长短不一、情绪混合更明显。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62326-C64E-4585-BC65-8E64BF7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795E-41DB-4400-93C7-34845B5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9E6F9-83B4-49C7-88FE-70BD9016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71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局限 2：边界情绪仍会混淆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3DDB5-57E8-4A5B-A87F-084A96A5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57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开心/平静、难过/平静、生气/焦虑在短句中常共享词面信号，需要更多上下文和强度建模。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3C8FE-D13F-4A8E-9476-143DF4D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792E4-6FD7-43E0-9967-A947C0AF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A3231-97CF-4726-BE11-2466B0BC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局限 3：置信度解释有限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39CEA-720B-4061-A27A-2928B0AF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 决策函数可排序，但不是天然概率；若用于真实用户建议，需要阈值、校准和人工兜底。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08673-B5F3-4DC2-8C8D-5854B71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AFBAB-0EB0-4711-983D-3C20EC8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E163E-08F4-4B0D-A859-274AFBF9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改进 1：数据层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0F990-F0BD-445C-970E-1F6FB60E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收集匿名真实日记，扩展焦虑/平静/开心边界样本；建立主动学习流程，让误分类样本反哺训练集。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6EC5F-D1BC-4CE2-A3DE-C10F06A2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39D06-F05B-4A4A-97E5-ECE907C7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6A461-9A1E-4BA4-808B-6D92F2D6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76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改进 2：模型层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39986-B5BA-4932-8DDA-A3DF1C6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62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在传统模型上加入概率校准和阈值拒识；进一步比较 LinearSVC、LR、轻量中文预训练模型的成本收益。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7BC10-8EF8-40D1-B66F-45B9157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2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84F1C-7C18-48F3-91D0-95B61A2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F3AFF-7035-42C0-A8AA-D5D4B6A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改进 3：系统层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4AC3C9-C917-41E4-BBF6-E0678D2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 Django 增加模型版本字段、预测日志、用户反馈入口和可视化误差面板，形成长期迭代闭环。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2C9A4E-9BB6-41F8-A2DB-21894199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32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4105FE-21E1-4A62-A70B-A0BB569B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6EBFC-9E6A-4DC8-B4B5-6E66C3BC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E8665A-908E-43A4-8C4A-FDFCC64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91175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承认局限不是削弱项目，而是说明当前结论的适用边界：课堂级、离线、可复现、可解释的五分类情绪日记系统已经成立。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66EF72-8EF1-4F39-B3CD-EFE608FA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2BA60-F97B-459B-BCA7-EFED9345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证据：error_cases.csv / svm_error_pair_heatmap.png / django_integration_summary.md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32322D-922B-4F33-8A7C-BA41A0B8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700828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6F1BE-1B7E-4758-821A-0138FA2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B8266-F6F7-4403-8669-7F9EFDC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DEB58-1196-4578-A3D6-BC27B826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25DAA520-492C-420E-BE35-5B230EF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5E9106E7-7753-4B71-9F12-71F15F0D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B8397-EBC8-4394-A201-D99DABB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结论：轻量传统机器学习足以支撑课堂级情绪日记五分类系统，并且证据链完整。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D59F0-C9AC-41A8-BD08-94B9DE17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B217E-5E04-4F64-9FDE-A3662527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A9A3C-6CD9-472E-9198-C38E22BA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问题回答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1E911-0735-49B5-B1D5-75A3496F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能否离线复现？可以。数据构建、分词、TF-IDF、训练、评估和 Django 接入都有脚本与产物，核心推理不依赖网络。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C9645-4AFD-4D49-BED7-B8ED4E6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83D13-5F41-4386-83EB-8C30E538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F649F-52BC-43F5-8259-717FFBC6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192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问题回答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8BD68-A0EC-48F8-8413-1A1F6BE1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050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能否稳定识别五类？可以。LinearSVC 在测试集上 Accuracy 0.9186、Macro F1 0.9208，焦虑类 F1 0.9649。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E0152-F83A-4E60-92C2-2C88357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8B12F-D944-4D00-BBD9-38BE12B4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D09E9-4382-4AA0-8C11-24DA9705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192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问题回答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EE75F-603E-4CCA-BDA7-D0C3703A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能否服务系统？可以。predict_emotion 已接入 Django，预测结果写入 MoodEntry，并驱动趋势图和页面建议。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5A9F6-3600-42FC-97AC-5777BF17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FA17A-0D6E-4841-BCA7-850D248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4295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8CBE8-71A5-441C-8246-2521843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标注样本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09B78-9BFD-4E7C-8C23-707DB67A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五分类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AAD3B-8F1E-4BB6-8709-BADD6ED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97D79-E010-479C-BBB6-801B4F8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B1958-791C-421A-8779-5F0BC7A5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特征维度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3890A-B2C4-4384-A483-43830FE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TF-IDF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A262C-25FD-4F21-AD60-67EF81C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1363FB-8783-4E44-8698-A0C78709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9CB3E-3587-4E4F-B079-C0C3142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 Macro 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70C0C-557F-4673-ADF9-EC217F0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04562-1E24-4FD0-B146-8C34A95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4E965-8A86-46B1-896A-4471C02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55C77-FBA7-4285-8CEF-9A1420D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11989-4185-40A8-8B23-BF56D5F6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数据+模型+系统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800BC-6736-4416-823C-4052196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16EB5-1B50-4D59-B921-45B4042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F826BD-2C15-4081-8B4A-1D329EC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48275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答辩结束语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06B207-1C7A-4B3D-AC25-76F117B5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本项目的价值不在于堆叠复杂模型，而在于在明确约束下完成一套可验证的机器学习工程：标签定义清楚，特征证据可见，模型选择有指标，误差分析有解释，系统落地有入口。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8789A-D637-4D8D-BB13-F4025783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3CFFE2-A8AA-4004-9914-A192B44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结论：TF-IDF + LinearSVC 是当前数据规模与课程场景下的主模型；后续重点是扩充真实日记样本和置信度校准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2F4F73-09FA-4581-835F-1030EAB3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23070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2026-05-21T05:34:08.2330000Z</dcterms:created>
  <dcterms:modified xsi:type="dcterms:W3CDTF">2026-05-21T05:34:08.2330000Z</dcterms:modified>
</coreProperties>
</file>