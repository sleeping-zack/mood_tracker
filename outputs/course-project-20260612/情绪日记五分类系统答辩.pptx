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9710" r="19710"/>
          <a:stretch>
            <a:fillRect/>
          </a:stretch>
        </p:blipFill>
        <p:spPr>
          <a:xfrm>
            <a:off x="4810125" y="0"/>
            <a:ext cx="7381875" cy="68580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5619750" cy="6858000"/>
          </a:xfrm>
          <a:prstGeom prst="rect">
            <a:avLst/>
          </a:prstGeom>
          <a:solidFill>
            <a:srgbClr val="F7F2EA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5143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机器学习与实践 · 课程大作业答辩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1238250"/>
            <a:ext cx="4714875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基于传统机器学习的</a:t>
            </a:r>
            <a:endParaRPr sz="25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情绪日记五分类系统</a:t>
            </a:r>
            <a:endParaRPr sz="25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495550"/>
            <a:ext cx="4305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研究目标：在保留 Django 情绪日记应用的前提下，构建可离线复现、可解释、可落地的中文日记情绪识别内核。</a:t>
            </a:r>
            <a:endParaRPr sz="10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219450"/>
            <a:ext cx="1066800" cy="304800"/>
          </a:xfrm>
          <a:prstGeom prst="rect">
            <a:avLst/>
          </a:prstGeom>
          <a:solidFill>
            <a:srgbClr val="E8F0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276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90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jieba 分词</a:t>
            </a:r>
            <a:endParaRPr sz="790" b="1">
              <a:solidFill>
                <a:srgbClr val="16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3219450"/>
            <a:ext cx="1428750" cy="304800"/>
          </a:xfrm>
          <a:prstGeom prst="rect">
            <a:avLst/>
          </a:prstGeom>
          <a:solidFill>
            <a:srgbClr val="DCE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924050" y="32766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90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稀疏特征</a:t>
            </a:r>
            <a:endParaRPr sz="790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3219450"/>
            <a:ext cx="1066800" cy="304800"/>
          </a:xfrm>
          <a:prstGeom prst="rect">
            <a:avLst/>
          </a:prstGeom>
          <a:solidFill>
            <a:srgbClr val="F8DF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86150" y="3276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9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790" b="1">
              <a:solidFill>
                <a:srgbClr val="E7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3733800"/>
            <a:ext cx="4095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3733800"/>
            <a:ext cx="47625" cy="8953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388620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171950"/>
            <a:ext cx="3752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为什么要从外部在线模型迁移到本地五分类？如何证明数据、特征、模型、系统四个环节是闭环而不是孤立实验？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501015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49815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4295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53149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五分类标注样本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54768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train/valid/test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238375" y="501015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371725" y="49815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3439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371725" y="53149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特征维度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71725" y="54768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unigram+bigram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790950" y="501015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924300" y="49815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0.9208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24300" y="53149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924300" y="54768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4705" y="5866765"/>
            <a:ext cx="2065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</a:t>
            </a:r>
            <a:r>
              <a:rPr lang="en-US" altLang="zh-CN"/>
              <a:t>:</a:t>
            </a:r>
            <a:r>
              <a:rPr lang="zh-CN" altLang="en-US"/>
              <a:t>朱旭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2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PROBLEM DEFINITION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287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核心问题：不是“能不能分类”，而是能否在稳定复现并服务真实日记流程。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1695450"/>
            <a:ext cx="3333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695450"/>
            <a:ext cx="47625" cy="14287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184785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现实约束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2133600"/>
            <a:ext cx="2990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原项目已有 Django 页面与趋势记录，但情绪识别依赖外部接口；课堂演示时网络、模型缓存、版本兼容都会影响结果。</a:t>
            </a:r>
            <a:endParaRPr sz="97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1695450"/>
            <a:ext cx="3333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38650" y="1695450"/>
            <a:ext cx="47625" cy="14287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184785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任务重定义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2133600"/>
            <a:ext cx="2990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将用户输入的中文日记文本划分为：难过、焦虑、生气、平静、开心五类，并同步生成趋势分值与建议语句。</a:t>
            </a:r>
            <a:endParaRPr sz="97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1695450"/>
            <a:ext cx="3333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48650" y="1695450"/>
            <a:ext cx="47625" cy="14287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20100" y="184785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评价标准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20100" y="2133600"/>
            <a:ext cx="29908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既看整体准确率，也看 Macro F1，避免多数类别掩盖少数类别；同时检查误差边界和 Django 集成可用性。</a:t>
            </a:r>
            <a:endParaRPr sz="97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" y="3705225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3667125"/>
            <a:ext cx="973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研究假设 H1：短文本情绪表达具有可由词项和词组捕捉的稳定信号。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086225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4048125"/>
            <a:ext cx="973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研究假设 H2：TF-IDF 高维稀疏特征与线性分类器匹配，能在小样本课程项目中取得足够可靠的效果。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467225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8700" y="4429125"/>
            <a:ext cx="973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研究假设 H3：模型必须进入 Web 业务链路，才算完成“实践”，不能停留在离线 notebook。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521970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76350" y="51911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76350" y="55245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目标类别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76350" y="56864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sad/anxious/angry/calm/happy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14750" y="521970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848100" y="51911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48100" y="55245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在线推理依赖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848100" y="56864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joblib 本地加载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86500" y="521970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19850" y="51911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19850" y="55245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统一预测入口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19850" y="56864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predict_emotion(text)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858250" y="521970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991600" y="51911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991600" y="55245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最终交付标准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991600" y="56864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数据→模型→Django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3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CONTRIBUTION SPINE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287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本项目的贡献不是“调库跑模型”，而是把五分类任务做成可证明、可解释、可集成的工程闭环。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638300"/>
            <a:ext cx="2381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638300"/>
            <a:ext cx="47625" cy="14763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17907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 1：任务升级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076450"/>
            <a:ext cx="203835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从原有粗粒度情感倾向升级为五分类情绪识别，单独补齐校园日记中高频但公开数据不足的“焦虑”类别。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1638300"/>
            <a:ext cx="2381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1638300"/>
            <a:ext cx="47625" cy="14763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05200" y="17907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 2：可复现实验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05200" y="2076450"/>
            <a:ext cx="203835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明确数据来源、标签映射、分层切分、特征配置、模型选择规则，所有关键产物保存到 reports/artifacts。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00750" y="1638300"/>
            <a:ext cx="2381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00750" y="1638300"/>
            <a:ext cx="47625" cy="14763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72200" y="17907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 3：可解释证据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72200" y="2076450"/>
            <a:ext cx="203835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展示标签分布、稀疏矩阵、Top TF-IDF 词、混淆矩阵和误分类对，证明模型行为可追溯。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1638300"/>
            <a:ext cx="238125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667750" y="1638300"/>
            <a:ext cx="47625" cy="1476375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39200" y="17907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 4：系统落地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39200" y="2076450"/>
            <a:ext cx="203835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ml/predict.py 接入 Django；预测结果写入 MoodEntry，并参与趋势图和页面建议展示。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3762375"/>
            <a:ext cx="98107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66800" y="39433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答辩逻辑链</a:t>
            </a:r>
            <a:endParaRPr sz="12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33625" y="39433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问题约束 → 数据构建 → 预处理与特征 → 三模型验证 → 测试集确认 → 误差解释 → Django 集成 → 不足与改进</a:t>
            </a:r>
            <a:endParaRPr sz="1125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4305300"/>
            <a:ext cx="9001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每个环节都对应一个可检查产物：CSV 数据、joblib 模型、PNG 图表、JSON 日志、Django 字段迁移和页面结果。</a:t>
            </a:r>
            <a:endParaRPr sz="97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5095875"/>
            <a:ext cx="9810750" cy="723900"/>
          </a:xfrm>
          <a:prstGeom prst="rect">
            <a:avLst/>
          </a:prstGeom>
          <a:solidFill>
            <a:srgbClr val="DCEEEA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57250" y="5095875"/>
            <a:ext cx="47625" cy="7239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28700" y="5248275"/>
            <a:ext cx="946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最终主张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28700" y="5534025"/>
            <a:ext cx="946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在当前样本规模和课程复现约束下，TF-IDF + LinearSVC 是一个比外部在线模型更稳定、比复杂深度模型更可控、比无监督聚类更适合上线的方案。</a:t>
            </a:r>
            <a:endParaRPr sz="10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证据链：README.md / report/*.md / ml/reports/*.csv,json,png / ml/artifacts/*.joblib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4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CONSTRUCTION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数据集不是简单下载：公开多情绪语料提供底座，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校园焦虑样本补齐应用场景。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0" y="1657350"/>
            <a:ext cx="4837175" cy="28098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687" y="1504950"/>
            <a:ext cx="2706377" cy="319087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81050" y="4800600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4762500"/>
            <a:ext cx="57340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公开数据：multi_emotion_dialogue 贡献 2710 条，是主体语义来源。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114925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5076825"/>
            <a:ext cx="57340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人工增强：manual_balanced_augment 贡献 1000 条，用于缓解类别分布偏移。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5429250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5391150"/>
            <a:ext cx="57340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校园焦虑：manual_campus_anxious 贡献 360 条，覆盖期末、答辩、DDL、导师、代码未完成等高频场景。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143750" y="4953000"/>
            <a:ext cx="3429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143750" y="4953000"/>
            <a:ext cx="47625" cy="6858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315200" y="5067300"/>
            <a:ext cx="1238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切分策略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24900" y="5067300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使用分层切分保证训练、验证、测试集中五类都保留样本；测试集仅用于最终报告，不参与模型选择。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581025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9650" y="57816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3436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9650" y="61150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09650" y="62769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52750" y="581025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086100" y="57816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429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86100" y="61150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86100" y="62769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029200" y="581025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162550" y="57816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430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162550" y="61150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62550" y="62769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证据：emotion_labeled.csv / label_distribution.csv / data_source_distribution.png / split_label_heatmap.png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5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SYSTEM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990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标签体系必须先定义清楚，否则模型指标再高也无法解释业务含义。</a:t>
            </a:r>
            <a:endParaRPr sz="23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619250"/>
            <a:ext cx="9096375" cy="3429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16859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04950" y="16859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中文情绪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05075" y="16859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emotion key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43325" y="16859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05325" y="16859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标注标准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1962150"/>
            <a:ext cx="9096375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20288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04950" y="20288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难过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505075" y="20288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43325" y="20288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05325" y="20288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失落、伤心、孤独、低落、被拒绝、被忽视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2305050"/>
            <a:ext cx="9096375" cy="3429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23717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04950" y="23717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05075" y="23717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anxious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743325" y="23717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05325" y="23717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担心来不及、心慌、紧张、害怕考砸、对未发生的事过度担忧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2647950"/>
            <a:ext cx="9096375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8200" y="27146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04950" y="27146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生气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505075" y="27146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angry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43325" y="27146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505325" y="27146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愤怒、不耐烦、被冒犯、烦躁、抱怨、厌恶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2000" y="2990850"/>
            <a:ext cx="9096375" cy="3429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30575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04950" y="30575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平静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505075" y="30575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calm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43325" y="30575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05325" y="30575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平静叙事、日常陈述、中性提问、节奏平稳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3333750"/>
            <a:ext cx="9096375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38200" y="3400425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04950" y="3400425"/>
            <a:ext cx="8477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505075" y="3400425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happy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743325" y="3400425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+2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505325" y="3400425"/>
            <a:ext cx="527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喜悦、成就感、放松、被支持、压力缓解、期待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2000" y="4000500"/>
            <a:ext cx="3238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2000" y="4000500"/>
            <a:ext cx="47625" cy="11430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33450" y="415290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映射原则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33450" y="4438650"/>
            <a:ext cx="2895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公开语料中的“开心、伤心、生气、厌恶、平静”进入五分类；惊讶、关心、疑问等非目标情绪删除；恐惧/担心/紧张若出现则归入焦虑。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476750" y="4000500"/>
            <a:ext cx="3238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476750" y="4000500"/>
            <a:ext cx="47625" cy="11430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648200" y="415290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为什么保留“焦虑”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648200" y="4438650"/>
            <a:ext cx="2895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课程与校园日记场景中，焦虑不是普通负面情绪：它常与未完成任务、临近截止、考试答辩和项目压力相关，具有单独识别价值。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4000500"/>
            <a:ext cx="2857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191500" y="4000500"/>
            <a:ext cx="47625" cy="114300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362950" y="415290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质量控制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362950" y="4438650"/>
            <a:ext cx="25146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过滤信息量极低文本、强反讽样本和重复改写；用分层切分减少类别缺失；后续用混淆矩阵检查边界。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62000" y="5429250"/>
            <a:ext cx="10287000" cy="457200"/>
          </a:xfrm>
          <a:prstGeom prst="rect">
            <a:avLst/>
          </a:prstGeom>
          <a:solidFill>
            <a:srgbClr val="E8F0F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62000" y="5429250"/>
            <a:ext cx="47625" cy="4572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33450" y="55435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答辩口径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343150" y="5543550"/>
            <a:ext cx="8534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本项目不是把五个名字硬塞给模型，而是先定义可解释标签空间，再让数据、模型、数据库字段和趋势分值保持一致。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证据：report/label_guide.md / ml/config.py / mood/models.py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6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PREPROCESSING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990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中文短文本预处理的关键不是复杂，而是训练阶段与预测阶段完全一致。</a:t>
            </a:r>
            <a:endParaRPr sz="23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619250"/>
            <a:ext cx="18097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2F7D7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752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425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95400" y="1771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清洗文本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207645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去空白、统一格式、清理极端噪声符号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57500" y="1619250"/>
            <a:ext cx="18097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90850" y="1752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425" b="1">
              <a:solidFill>
                <a:srgbClr val="E7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09950" y="1771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jieba 分词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09900" y="207645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精确模式；加载校园场景用户词典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72050" y="1619250"/>
            <a:ext cx="18097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C9A15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05400" y="1752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9A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9A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425" b="1">
              <a:solidFill>
                <a:srgbClr val="C9A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24500" y="1771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停用词过滤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24450" y="207645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去除虚词、标点和低信息 token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86600" y="1619250"/>
            <a:ext cx="20002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19950" y="1752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425" b="1">
              <a:solidFill>
                <a:srgbClr val="16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39050" y="17716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空格拼接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07645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seg_text，供 TfidfVectorizer 直接读取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72600" y="1619250"/>
            <a:ext cx="18097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2F7D7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05950" y="1752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425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25050" y="1771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预测复用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0" y="207645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segment_for_prediction 与训练逻辑一致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2971800"/>
            <a:ext cx="4762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52500" y="3162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分词示例</a:t>
            </a:r>
            <a:endParaRPr sz="12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354330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原文：明天就要答辩了，PPT 还没完全准备好，心里很紧张。</a:t>
            </a:r>
            <a:endParaRPr sz="94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2500" y="400050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清洗+分词：明天 答辩 PPT 还没 完全 准备 好 心里 紧张</a:t>
            </a:r>
            <a:endParaRPr sz="940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52500" y="44005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意义：保留“还没、准备、紧张、答辩”等能区分焦虑的词项，同时避免页面预测时与训练分词不一致。</a:t>
            </a:r>
            <a:endParaRPr sz="8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2971800"/>
            <a:ext cx="4762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096000" y="2971800"/>
            <a:ext cx="47625" cy="17907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267450" y="3124200"/>
            <a:ext cx="441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实现位置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267450" y="3409950"/>
            <a:ext cx="44196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`ml/preprocess.py` 负责训练数据清洗与分词；`ml/predict.py::segment_for_prediction` 在 Django 预测时复用同一逻辑；用户词典与停用词集中放在 `ml/dicts/`。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47750" y="5181600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19200" y="5143500"/>
            <a:ext cx="916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避免数据泄漏：向量器只在训练集 fit，验证/测试集只 transform。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47750" y="5505450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219200" y="5467350"/>
            <a:ext cx="916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避免线上线下割裂：Django 提交文本时走同一套分词与向量化入口。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47750" y="5829300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219200" y="5791200"/>
            <a:ext cx="916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避免不可复现：每个阶段输出 CSV/JSON/PNG 证据文件，便于复查。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证据：ml/preprocess.py / ml/predict.py / ml/dicts/user_dict.txt / segment_preview.csv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7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 ENGINEERING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不是装饰性步骤：它把中文日记转成可解释、可复现、可稀疏计算的特征空间。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651336"/>
            <a:ext cx="6572250" cy="19456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672910"/>
            <a:ext cx="3714750" cy="213105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42950" y="4038600"/>
            <a:ext cx="10382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4038600"/>
            <a:ext cx="47625" cy="7620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4191000"/>
            <a:ext cx="10039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参数设置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4476750"/>
            <a:ext cx="10039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TfidfVectorizer(tokenizer=str.split, lowercase=False, ngram_range=(1,2), max_features=8000, min_df=3, max_df=0.9)。训练阶段重新 fit 向量器，并与模型一起保存，避免向量器和模型不匹配。</a:t>
            </a:r>
            <a:endParaRPr sz="93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514350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5114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3436×3439</a:t>
            </a:r>
            <a:endParaRPr sz="18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5448300"/>
            <a:ext cx="2000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训练矩阵形状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47750" y="5610225"/>
            <a:ext cx="2000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 × 特征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52800" y="514350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51149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46989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86150" y="54483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非零元素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86150" y="56102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总元素 &gt; 1181 万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57850" y="514350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791200" y="51149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99.60%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91200" y="54483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训练稀疏率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91200" y="56102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sparsity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62900" y="514350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96250" y="51149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13.68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96250" y="54483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平均非零特征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96250" y="56102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 sample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证据：tfidf_sparse_matrix_spy.png / nonzero_feature_distribution.png / sparse_matrix_stats.csv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8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DESIGN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模型选择遵循“先可解释、再比较、最后落地”的原则，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而不是盲目追求复杂度。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657350"/>
            <a:ext cx="10382250" cy="4000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724025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266950" y="1724025"/>
            <a:ext cx="3324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核心假设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43575" y="1724025"/>
            <a:ext cx="2657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53450" y="1724025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057400"/>
            <a:ext cx="10382250" cy="4000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2124075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MultinomialNB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2124075"/>
            <a:ext cx="3324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词项条件独立，适合计数/概率式文本分类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43575" y="2124075"/>
            <a:ext cx="2657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训练极快、基线清晰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53450" y="2124075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无法充分利用复杂边界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2457450"/>
            <a:ext cx="10382250" cy="40005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2524125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LogisticRegression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66950" y="2524125"/>
            <a:ext cx="3324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线性可分概率模型，权重可解释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43575" y="2524125"/>
            <a:ext cx="2657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稳定、可输出概率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53450" y="2524125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训练时间略高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2857500"/>
            <a:ext cx="10382250" cy="4000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2924175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66950" y="2924175"/>
            <a:ext cx="3324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在高维稀疏空间寻找最大间隔超平面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743575" y="2924175"/>
            <a:ext cx="2657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 TF-IDF 稀疏文本，泛化强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53450" y="2924175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置信度需额外校准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3524250"/>
            <a:ext cx="3238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524250"/>
            <a:ext cx="47625" cy="12382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367665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为什么不是深度模型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14400" y="396240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样本量、课堂复现、离线演示和依赖安装都要求方案轻量。深度模型可以作为未来方向，但不应成为当前系统的最小可靠方案。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3524250"/>
            <a:ext cx="3238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3524250"/>
            <a:ext cx="47625" cy="12382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48200" y="367665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为什么强调 Macro F1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648200" y="396240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五分类中每类支持数不同；只看 Accuracy 可能掩盖焦虑、开心等较小类别的错误，因此主排序使用 Macro F1。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10550" y="3524250"/>
            <a:ext cx="2857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10550" y="3524250"/>
            <a:ext cx="47625" cy="12382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382000" y="367665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模型选择规则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82000" y="3962400"/>
            <a:ext cx="2514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 Macro F1 优先；若差距在 ±0.005 内，再比较 weighted F1、accuracy 和模型偏好。测试集只做最终确认。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2950" y="5095875"/>
            <a:ext cx="10325100" cy="609600"/>
          </a:xfrm>
          <a:prstGeom prst="rect">
            <a:avLst/>
          </a:prstGeom>
          <a:solidFill>
            <a:srgbClr val="E8F0F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42950" y="5095875"/>
            <a:ext cx="47625" cy="6096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524000" y="5210175"/>
            <a:ext cx="9372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本项目的模型选择不是“哪个库更高级”，而是在高维稀疏文本、可复现课堂环境和 Django 集成成本之间取得工程上可解释的平衡。</a:t>
            </a:r>
            <a:endParaRPr sz="12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证据：ml/train_model.py / best_model_info.json / train_log.json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9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EXPERIMENTAL PROTOCOL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实验设计的重点是防止“看过测试集再调参”，因此验证集和测试集承担不同角色。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657350"/>
            <a:ext cx="10477500" cy="3429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7240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76450" y="17240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29200" y="17240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58200" y="17240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输出证据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000250"/>
            <a:ext cx="10477500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20669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数据切分</a:t>
            </a:r>
            <a:endParaRPr sz="7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76450" y="20669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emotion_labeled.csv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029200" y="20669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label 分层切分 8:1:1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58200" y="20669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label_distribution.csv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2343150"/>
            <a:ext cx="10477500" cy="3429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24098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特征工程</a:t>
            </a:r>
            <a:endParaRPr sz="7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24098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train/valid/test_segmented.csv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29200" y="24098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fit 训练集向量器，valid/test 只 transform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58200" y="24098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tfidf_vectorizer.joblib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2686050"/>
            <a:ext cx="10477500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27527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</a:t>
            </a:r>
            <a:endParaRPr sz="7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76450" y="27527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 TF-IDF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029200" y="27527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NB、LR、LinearSVC 三个模型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58200" y="27527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train_log.json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3028950"/>
            <a:ext cx="10477500" cy="3429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0956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</a:t>
            </a:r>
            <a:endParaRPr sz="7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76450" y="30956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验证集指标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029200" y="30956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Macro F1 为主，记录 tie-break 规则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458200" y="30956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best_model_info.json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371850"/>
            <a:ext cx="10477500" cy="3429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42950" y="3438525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最终评估</a:t>
            </a:r>
            <a:endParaRPr sz="7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076450" y="3438525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 430 条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29200" y="3438525"/>
            <a:ext cx="3276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只评估一次，输出混淆矩阵和误分类表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58200" y="343852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evaluation_log.json</a:t>
            </a:r>
            <a:endParaRPr sz="7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152900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28700" y="4114800"/>
            <a:ext cx="973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评估指标：Accuracy、Macro F1、Weighted F1、Macro Precision、Macro Recall、predict_ms_per_sample。</a:t>
            </a:r>
            <a:endParaRPr sz="96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4476750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28700" y="4438650"/>
            <a:ext cx="973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公平性控制：三个模型使用同一套 TF-IDF 特征，避免模型差异被特征差异污染。</a:t>
            </a:r>
            <a:endParaRPr sz="96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" y="4800600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28700" y="4762500"/>
            <a:ext cx="973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复现控制：关键参数、环境版本、模型路径、向量器路径均写入 JSON 日志。</a:t>
            </a:r>
            <a:endParaRPr sz="96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143000" y="533400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276350" y="53054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76350" y="56388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监督模型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76350" y="58007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 / LR / SVM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76625" y="533400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609975" y="53054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609975" y="56388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主模型规则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609975" y="58007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 Macro F1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810250" y="533400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943600" y="53054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430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943600" y="56388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最终测试样本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943600" y="58007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只用于最终报告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143875" y="533400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277225" y="530542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可复查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277225" y="56388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实验产物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277225" y="580072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csv/json/png/joblib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证据：split_dataset.py / feature_engineering.py / train_model.py / evaluate_model.py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0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 RESULT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验证集结果显示 LinearSVC 在宏平均 F1 上领先，且训练成本仍保持轻量。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79" y="1524000"/>
            <a:ext cx="5403767" cy="304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691397"/>
            <a:ext cx="4333875" cy="2675106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904875" y="4905375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38225" y="48768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0.9142</a:t>
            </a:r>
            <a:endParaRPr sz="18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38225" y="52101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 验证 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38225" y="53721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 429 条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19500" y="4905375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52850" y="48768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0.9032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752850" y="52101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52850" y="53721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次优模型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4905375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24600" y="48768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0.0178s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52101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SVM 训练耗时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24600" y="537210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当前数据规模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620125" y="4762500"/>
            <a:ext cx="2381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620125" y="4762500"/>
            <a:ext cx="47625" cy="8191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91575" y="49149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91575" y="52006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 同时满足：验证指标最高、训练耗时可接受、预测速度接近实时。</a:t>
            </a:r>
            <a:endParaRPr sz="8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5772150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28700" y="5734050"/>
            <a:ext cx="963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 速度最快，但验证 Macro F1 低于线性判别模型。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6000750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28700" y="5962650"/>
            <a:ext cx="963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具有概率解释优势，但当前验证集指标略低。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7250" y="6229350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28700" y="6191250"/>
            <a:ext cx="963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 与 TF-IDF 稀疏空间匹配，作为主模型更稳。</a:t>
            </a:r>
            <a:endParaRPr sz="86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证据：train_log.json / validation_metrics_compare.png / training_time_compare.png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1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RESULT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最终测试集确认：LinearSVC 不只在验证集领先，在保留测试集上也取得最优综合指标。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419" y="1504950"/>
            <a:ext cx="5072063" cy="2857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646464"/>
            <a:ext cx="4238625" cy="2422071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524625" y="4229100"/>
            <a:ext cx="5048250" cy="2667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00825" y="42957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48575" y="42957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42957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48825" y="42957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48950" y="42957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Support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24625" y="4495800"/>
            <a:ext cx="5048250" cy="2667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00825" y="45624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难过</a:t>
            </a:r>
            <a:endParaRPr sz="7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48575" y="45624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0.9390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48700" y="45624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0.8851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48825" y="45624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0.9112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48950" y="45624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24625" y="4762500"/>
            <a:ext cx="5048250" cy="2667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00825" y="48291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</a:t>
            </a:r>
            <a:endParaRPr sz="7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48575" y="48291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0.9483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48700" y="48291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0.9821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48825" y="48291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0.9649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48950" y="48291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24625" y="5029200"/>
            <a:ext cx="5048250" cy="2667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00825" y="50958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生气</a:t>
            </a:r>
            <a:endParaRPr sz="7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48575" y="50958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0.9237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48700" y="50958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0.9316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648825" y="50958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0.9277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648950" y="50958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524625" y="5295900"/>
            <a:ext cx="5048250" cy="26670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00825" y="53625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平静</a:t>
            </a:r>
            <a:endParaRPr sz="7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648575" y="53625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0.8763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648700" y="53625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0.9341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648825" y="53625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0.9043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648950" y="53625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24625" y="5562600"/>
            <a:ext cx="5048250" cy="26670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600825" y="562927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</a:t>
            </a:r>
            <a:endParaRPr sz="7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648575" y="56292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0.9200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648700" y="56292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0.8734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648825" y="56292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0.8961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648950" y="5629275"/>
            <a:ext cx="847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7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09625" y="489585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42975" y="48672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0.9186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42975" y="52006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Accuracy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42975" y="53625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 430 条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905125" y="489585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038475" y="48672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0.9208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52006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038475" y="53625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类别均衡指标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000625" y="489585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133975" y="48672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0.9184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33975" y="52006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Weighted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133975" y="53625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样本加权指标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096125" y="573405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229475" y="5705475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0.000368</a:t>
            </a:r>
            <a:endParaRPr sz="17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229475" y="60388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 / sample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229475" y="62007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本地预测耗时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证据：evaluation_log.json / test_model_compare.csv / test_metrics_compare.png / f1_bar.png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2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 ANALYSIS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9906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误差不是随机崩溃，主要集中在情绪边界相近的类别之间。</a:t>
            </a:r>
            <a:endParaRPr sz="24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1504950"/>
            <a:ext cx="4243388" cy="3857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1620482"/>
            <a:ext cx="3905250" cy="3407486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9525000" y="1619250"/>
            <a:ext cx="176212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525000" y="1619250"/>
            <a:ext cx="47625" cy="12573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696450" y="1771650"/>
            <a:ext cx="14192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主要边界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696450" y="2057400"/>
            <a:ext cx="14192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难过 ↔ 平静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生气 ↔ 焦虑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 ↔ 平静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0" y="3143250"/>
            <a:ext cx="17621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3143250"/>
            <a:ext cx="47625" cy="14287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696450" y="3295650"/>
            <a:ext cx="14192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原因解释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96450" y="3581400"/>
            <a:ext cx="1419225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短日记常省略上下文；同一句可能同时包含压力、失落或平静叙述。词面信号不足时，线性模型会靠近相邻类别。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" y="5657850"/>
            <a:ext cx="66675" cy="666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81075" y="5619750"/>
            <a:ext cx="9639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焦虑类别 Recall 达 0.9821，说明校园焦虑样本补充有效。</a:t>
            </a:r>
            <a:endParaRPr sz="9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9625" y="5905500"/>
            <a:ext cx="66675" cy="666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81075" y="5867400"/>
            <a:ext cx="9639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开心与平静、难过与平静容易混淆，反映“情绪强度”比“情绪方向”更难区分。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9625" y="6153150"/>
            <a:ext cx="66675" cy="666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81075" y="6115050"/>
            <a:ext cx="9639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下一步应补充真实日记长文本、加入置信度阈值和人工复核机制。</a:t>
            </a:r>
            <a:endParaRPr sz="90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证据：confusion_matrix_svm.png / svm_error_pair_heatmap.png / error_cases.csv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en-US" altLang="zh-CN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3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INTERPRETABILITY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287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TF-IDF 词项提供了可解释证据：模型捕捉的是情绪表达线索，而不是纯粹记忆样本。</a:t>
            </a:r>
            <a:endParaRPr sz="21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388" y="1524000"/>
            <a:ext cx="3210674" cy="42862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858000" y="1571625"/>
            <a:ext cx="3714750" cy="904875"/>
          </a:xfrm>
          <a:prstGeom prst="rect">
            <a:avLst/>
          </a:prstGeom>
          <a:solidFill>
            <a:srgbClr val="DCEEEA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1571625"/>
            <a:ext cx="47625" cy="904875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29450" y="172402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焦虑信号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29450" y="2009775"/>
            <a:ext cx="33718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“还没、担心、准备、没准备、准备好”集中指向未完成任务和时间压力。</a:t>
            </a:r>
            <a:endParaRPr sz="94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0" y="2686050"/>
            <a:ext cx="3714750" cy="904875"/>
          </a:xfrm>
          <a:prstGeom prst="rect">
            <a:avLst/>
          </a:prstGeom>
          <a:solidFill>
            <a:srgbClr val="F8DFD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2686050"/>
            <a:ext cx="47625" cy="9048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29450" y="2838450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开心信号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29450" y="3124200"/>
            <a:ext cx="33718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“开心、终于、太高兴、太好了”直接表达正向情绪或压力解除。</a:t>
            </a:r>
            <a:endParaRPr sz="94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800475"/>
            <a:ext cx="3714750" cy="904875"/>
          </a:xfrm>
          <a:prstGeom prst="rect">
            <a:avLst/>
          </a:prstGeom>
          <a:solidFill>
            <a:srgbClr val="EFE6D2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0" y="3800475"/>
            <a:ext cx="47625" cy="904875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029450" y="3952875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生气信号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29450" y="4238625"/>
            <a:ext cx="33718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“真的、这样、怎么、不、这种”更多对应抱怨、反问和被冒犯语气。</a:t>
            </a:r>
            <a:endParaRPr sz="94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0" y="4914900"/>
            <a:ext cx="371475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58000" y="4914900"/>
            <a:ext cx="47625" cy="809625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29450" y="5067300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答辩口径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29450" y="5353050"/>
            <a:ext cx="33718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可解释性不是只看一个词，而是结合类别词项、混淆矩阵和误分类案例判断模型是否学到合理规律。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证据：top_tfidf_terms_by_label.csv / top_tfidf_terms_by_label.png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4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DJANGO INTEGRATION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模型已进入 Django 日记流程：用户输入、模型预测、数据库记录和趋势展示形成闭环。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524000"/>
            <a:ext cx="1762125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2F7D7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1657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425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67640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1981200"/>
            <a:ext cx="1457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mood_note 文本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09875" y="1524000"/>
            <a:ext cx="2047875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43225" y="1657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425" b="1">
              <a:solidFill>
                <a:srgbClr val="E7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62325" y="16764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预测入口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62275" y="1981200"/>
            <a:ext cx="17430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mood/views.py 调用 predict_emotion(text)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1524000"/>
            <a:ext cx="209550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C9A15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53050" y="1657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9A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C9A1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425" b="1">
              <a:solidFill>
                <a:srgbClr val="C9A1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72150" y="1676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本地模型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72100" y="198120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vectorizer + LinearSVC joblib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77150" y="1524000"/>
            <a:ext cx="209550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1657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32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425" b="1">
              <a:solidFill>
                <a:srgbClr val="1632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229600" y="1676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29550" y="198120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MoodEntry 保存 label/score/model_name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0" y="1524000"/>
            <a:ext cx="1428750" cy="819150"/>
          </a:xfrm>
          <a:prstGeom prst="rect">
            <a:avLst/>
          </a:prstGeom>
          <a:solidFill>
            <a:srgbClr val="FDFBF6"/>
          </a:solidFill>
          <a:ln w="19050">
            <a:solidFill>
              <a:srgbClr val="2F7D7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29850" y="1657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7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425" b="1">
              <a:solidFill>
                <a:srgbClr val="2F7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648950" y="16764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页面展示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248900" y="198120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情绪、建议语、历史记录和趋势图</a:t>
            </a:r>
            <a:endParaRPr sz="715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244" y="2857500"/>
            <a:ext cx="4167188" cy="23812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742950" y="2857500"/>
            <a:ext cx="5095875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71550" y="3067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数据库字段同步</a:t>
            </a:r>
            <a:endParaRPr sz="12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71550" y="3476625"/>
            <a:ext cx="44767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emotion_label：0/1/2/3/4 五分类标签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sentiment：sad/anxious/angry/calm/happy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score：-2/-1/0/+2 趋势分值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model_name：TF-IDF + LinearSVC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analysis_message：对应情绪建议语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analyzed_at：预测时间</a:t>
            </a:r>
            <a:endParaRPr sz="94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2950" y="5524500"/>
            <a:ext cx="10001250" cy="495300"/>
          </a:xfrm>
          <a:prstGeom prst="rect">
            <a:avLst/>
          </a:prstGeom>
          <a:solidFill>
            <a:srgbClr val="DCEEEA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5524500"/>
            <a:ext cx="47625" cy="495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14400" y="5638800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工程结论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324100" y="5638800"/>
            <a:ext cx="8248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本项目没有重写网站，而是把识别内核替换为本地传统机器学习模型；这使实验产物可以被页面真实调用，满足“机器学习与实践”的实践要求。</a:t>
            </a:r>
            <a:endParaRPr sz="94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证据：mood/views.py / mood/models.py / ml/predict.py / static/mood_trend.png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5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REPRODUCIBILITY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可复现不是口头承诺：从数据构建到网页运行都有明确命令、产物和检查点。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619250"/>
            <a:ext cx="10287000" cy="4000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8592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62200" y="168592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15200" y="168592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验证产物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019300"/>
            <a:ext cx="10287000" cy="4000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08597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数据构建</a:t>
            </a:r>
            <a:endParaRPr sz="7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62200" y="208597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ml\build_5class_dataset.py &amp;&amp; python ml\split_dataset.py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208597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emotion_labeled.csv / label_distribution.png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419350"/>
            <a:ext cx="10287000" cy="40005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2950" y="248602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预处理与特征</a:t>
            </a:r>
            <a:endParaRPr sz="7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62200" y="248602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ml\preprocess.py &amp;&amp; python ml\feature_engineering.py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15200" y="248602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train_segmented.csv / tfidf_vectorizer.joblib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2819400"/>
            <a:ext cx="10287000" cy="4000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288607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监督训练</a:t>
            </a:r>
            <a:endParaRPr sz="7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62200" y="288607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ml\train_model.py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15200" y="288607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nb/lr/svm_model.joblib / train_log.json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3219450"/>
            <a:ext cx="10287000" cy="40005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328612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测试评估</a:t>
            </a:r>
            <a:endParaRPr sz="7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62200" y="328612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ml\evaluate_model.py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15200" y="328612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test_model_compare.csv / confusion_matrix_svm.png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3619500"/>
            <a:ext cx="10287000" cy="4000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686175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网页演示</a:t>
            </a:r>
            <a:endParaRPr sz="7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362200" y="368617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manage.py migrate &amp;&amp; python manage.py runserver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15200" y="3686175"/>
            <a:ext cx="3562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MoodEntry 记录 / mood_trend.png</a:t>
            </a:r>
            <a:endParaRPr sz="7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2000" y="4143375"/>
            <a:ext cx="3143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2000" y="4143375"/>
            <a:ext cx="47625" cy="11430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33450" y="42957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环境说明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3450" y="4581525"/>
            <a:ext cx="2800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当前训练环境为 Python 3.9.13、scikit-learn 1.0.2、joblib 1.1.0；正式演示若切换 Python 3.11，应重新训练并保存 joblib。</a:t>
            </a:r>
            <a:endParaRPr sz="8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333875" y="4143375"/>
            <a:ext cx="3143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333875" y="4143375"/>
            <a:ext cx="47625" cy="114300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505325" y="42957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版本风险控制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05325" y="4581525"/>
            <a:ext cx="2800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 不保证 joblib 跨版本加载完全兼容，因此报告中记录环境版本和模型路径，避免“能跑但不可解释”。</a:t>
            </a:r>
            <a:endParaRPr sz="8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905750" y="4143375"/>
            <a:ext cx="2952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905750" y="4143375"/>
            <a:ext cx="47625" cy="11430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077200" y="4295775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答辩检查点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77200" y="4581525"/>
            <a:ext cx="2609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现场可展示：CSV、JSON 训练日志、混淆矩阵、稀疏矩阵、Django 首页提交和数据库记录。</a:t>
            </a:r>
            <a:endParaRPr sz="85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2000" y="5572125"/>
            <a:ext cx="10096500" cy="457200"/>
          </a:xfrm>
          <a:prstGeom prst="rect">
            <a:avLst/>
          </a:prstGeom>
          <a:solidFill>
            <a:srgbClr val="E8F0F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2000" y="5572125"/>
            <a:ext cx="47625" cy="4572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33450" y="56864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343150" y="5686425"/>
            <a:ext cx="834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这套流程可以从零重新生成数据、训练模型、评估结果并接入网站，因此不是一次性截图工程。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证据：README.md / requirements.txt / ml/reports/train_log.json / evaluation_log.json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6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CONTRAST AND EXTENSION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对照实验说明：无监督聚类能展示结构，但不能替代监督模型作为主系统。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1524000"/>
            <a:ext cx="3829050" cy="3190875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524500" y="1714500"/>
            <a:ext cx="7715250" cy="3619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600700" y="1781175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15200" y="178117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Accuracy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58200" y="178117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 F1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601200" y="1781175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2076450"/>
            <a:ext cx="7715250" cy="3619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00700" y="2143125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KMeans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214312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0.6834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58200" y="214312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0.6130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601200" y="2143125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无监督拓展，需后验映射 cluster id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0" y="2438400"/>
            <a:ext cx="7715250" cy="361950"/>
          </a:xfrm>
          <a:prstGeom prst="rect">
            <a:avLst/>
          </a:prstGeom>
          <a:solidFill>
            <a:srgbClr val="FAF7E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600700" y="2505075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LSA + KMeans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15200" y="250507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0.6994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58200" y="250507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0.6876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01200" y="2505075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可视化更稳定，但仍低于监督模型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24500" y="2800350"/>
            <a:ext cx="7715250" cy="361950"/>
          </a:xfrm>
          <a:prstGeom prst="rect">
            <a:avLst/>
          </a:prstGeom>
          <a:solidFill>
            <a:srgbClr val="FFFFFF"/>
          </a:solidFill>
          <a:ln w="4763">
            <a:solidFill>
              <a:srgbClr val="D7D2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600700" y="2867025"/>
            <a:ext cx="1562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79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15200" y="286702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0.9186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58200" y="2867025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0.9208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01200" y="2867025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最终接入 Django 的主监督模型</a:t>
            </a:r>
            <a:endParaRPr sz="790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0" y="3286125"/>
            <a:ext cx="4762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24500" y="3286125"/>
            <a:ext cx="47625" cy="8572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695950" y="3438525"/>
            <a:ext cx="441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对照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695950" y="3724275"/>
            <a:ext cx="4419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项目保留 hf_predict.py 作为旧方案对照入口；当前机器 transformers 导入因 urllib3 依赖冲突被记录为 skipped，不影响本地主模型评估。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24500" y="4381500"/>
            <a:ext cx="4762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524500" y="4381500"/>
            <a:ext cx="47625" cy="8572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695950" y="4533900"/>
            <a:ext cx="441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为什么不把 KMeans 当主模型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695950" y="4819650"/>
            <a:ext cx="4419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聚类标签本身没有情绪语义，必须根据簇内多数标签后验解释；它适合课程拓展，不适合直接给用户返回情绪。</a:t>
            </a:r>
            <a:endParaRPr sz="86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2500" y="504825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85850" y="50196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0.6994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85850" y="53530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最佳无监督 Accuracy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85850" y="55149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LSA+KMeans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3429000" y="504825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3562350" y="50196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0.9208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562350" y="53530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 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562350" y="55149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证据：kmeans_compare.csv / hf_compare.csv / kmeans_vis.png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7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LIMITATIONS AND FUTURE WORK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不足与改进路径必须讲清楚：当前系统可靠，但还不是面向真实大规模用户的最终模型。</a:t>
            </a:r>
            <a:endParaRPr sz="22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6192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19250"/>
            <a:ext cx="47625" cy="14287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771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1：数据来源仍偏小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057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公开多情绪语料与人工校园样本能支撑课程验证，但真实日记表达更私密、长短不一、情绪混合更明显。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33875" y="16192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33875" y="1619250"/>
            <a:ext cx="47625" cy="14287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05325" y="1771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2：边界情绪仍会混淆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05325" y="2057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开心/平静、难过/平静、生气/焦虑在短句中常共享词面信号，需要更多上下文和强度建模。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16192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24800" y="1619250"/>
            <a:ext cx="47625" cy="14287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1771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3：置信度解释有限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96250" y="2057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 决策函数可排序，但不是天然概率；若用于真实用户建议，需要阈值、校准和人工兜底。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3524250"/>
            <a:ext cx="3143250" cy="1428750"/>
          </a:xfrm>
          <a:prstGeom prst="rect">
            <a:avLst/>
          </a:prstGeom>
          <a:solidFill>
            <a:srgbClr val="DCEEEA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3524250"/>
            <a:ext cx="47625" cy="14287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3676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 1：数据层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3962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收集匿名真实日记，扩展焦虑/平静/开心边界样本；建立主动学习流程，让误分类样本反哺训练集。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333875" y="3524250"/>
            <a:ext cx="3143250" cy="1428750"/>
          </a:xfrm>
          <a:prstGeom prst="rect">
            <a:avLst/>
          </a:prstGeom>
          <a:solidFill>
            <a:srgbClr val="F8DFD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333875" y="3524250"/>
            <a:ext cx="47625" cy="14287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05325" y="3676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 2：模型层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05325" y="3962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在传统模型上加入概率校准和阈值拒识；进一步比较 LinearSVC、LR、轻量中文预训练模型的成本收益。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24800" y="3524250"/>
            <a:ext cx="3143250" cy="1428750"/>
          </a:xfrm>
          <a:prstGeom prst="rect">
            <a:avLst/>
          </a:prstGeom>
          <a:solidFill>
            <a:srgbClr val="EFE6D2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924800" y="3524250"/>
            <a:ext cx="47625" cy="14287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96250" y="36766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 3：系统层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96250" y="3962400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0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 Django 增加模型版本字段、预测日志、用户反馈入口和可视化误差面板，形成长期迭代闭环。</a:t>
            </a:r>
            <a:endParaRPr sz="915" b="0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2950" y="5476875"/>
            <a:ext cx="10325100" cy="476250"/>
          </a:xfrm>
          <a:prstGeom prst="rect">
            <a:avLst/>
          </a:prstGeom>
          <a:solidFill>
            <a:srgbClr val="E8F0F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5476875"/>
            <a:ext cx="47625" cy="4762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14400" y="5591175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918970" y="5591175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承认局限不是削弱项目，而是说明当前结论的适用边界：课堂级、离线、可复现、可解释的五分类情绪日记</a:t>
            </a: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系统已经成立</a:t>
            </a:r>
            <a:r>
              <a:rPr sz="1200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证据：error_cases.csv / svm_error_pair_heatmap.png / django_integration_summary.md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marker"/>
          <p:cNvSpPr>
            <a:spLocks noGrp="1"/>
          </p:cNvSpPr>
          <p:nvPr/>
        </p:nvSpPr>
        <p:spPr>
          <a:xfrm>
            <a:off x="590550" y="428625"/>
            <a:ext cx="66675" cy="2286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8-label"/>
          <p:cNvSpPr>
            <a:spLocks noGrp="1"/>
          </p:cNvSpPr>
          <p:nvPr/>
        </p:nvSpPr>
        <p:spPr>
          <a:xfrm>
            <a:off x="742950" y="428625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CONCLUSION</a:t>
            </a:r>
            <a:endParaRPr sz="825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781050"/>
            <a:ext cx="1009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结论：轻量传统机器学习足以支撑课堂级情绪日记五分类系统，并且证据链完整。</a:t>
            </a:r>
            <a:endParaRPr sz="23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666875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66875"/>
            <a:ext cx="47625" cy="14287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18192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问题回答 1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105025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能否离线复现？可以。数据构建、分词、TF-IDF、训练、评估和 Django 接入都有脚本与产物，核心推理不依赖网络。</a:t>
            </a:r>
            <a:endParaRPr sz="9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33875" y="1666875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33875" y="1666875"/>
            <a:ext cx="47625" cy="14287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05325" y="18192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问题回答 2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05325" y="2105025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能否稳定识别五类？可以。LinearSVC 在测试集上 Accuracy 0.9186、Macro F1 0.9208，焦虑类 F1 0.9649。</a:t>
            </a:r>
            <a:endParaRPr sz="9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924800" y="1666875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24800" y="1666875"/>
            <a:ext cx="47625" cy="14287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18192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问题回答 3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96250" y="2105025"/>
            <a:ext cx="28003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能否服务系统？可以。predict_emotion 已接入 Django，预测结果写入 MoodEntry，并驱动趋势图和页面建议。</a:t>
            </a:r>
            <a:endParaRPr sz="9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47750" y="3714750"/>
            <a:ext cx="38100" cy="552450"/>
          </a:xfrm>
          <a:prstGeom prst="rect">
            <a:avLst/>
          </a:prstGeom>
          <a:solidFill>
            <a:srgbClr val="2F7D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81100" y="36861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4295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81100" y="40195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标注样本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81100" y="41814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五分类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29000" y="3714750"/>
            <a:ext cx="38100" cy="5524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562350" y="36861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3439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562350" y="40195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特征维度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562350" y="41814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10250" y="3714750"/>
            <a:ext cx="38100" cy="552450"/>
          </a:xfrm>
          <a:prstGeom prst="rect">
            <a:avLst/>
          </a:prstGeom>
          <a:solidFill>
            <a:srgbClr val="C9A1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943600" y="36861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0.9208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943600" y="40195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Macro F1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43600" y="41814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LinearSVC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91500" y="371475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24850" y="3686175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20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24850" y="4019550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最终交付</a:t>
            </a:r>
            <a:endParaRPr sz="7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24850" y="4181475"/>
            <a:ext cx="18097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数据+模型+系统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66800" y="5095875"/>
            <a:ext cx="9144000" cy="781050"/>
          </a:xfrm>
          <a:prstGeom prst="rect">
            <a:avLst/>
          </a:prstGeom>
          <a:solidFill>
            <a:srgbClr val="E8F0F4"/>
          </a:solidFill>
          <a:ln w="9525">
            <a:solidFill>
              <a:srgbClr val="D7D2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66800" y="5095875"/>
            <a:ext cx="47625" cy="781050"/>
          </a:xfrm>
          <a:prstGeom prst="rect">
            <a:avLst/>
          </a:prstGeom>
          <a:solidFill>
            <a:srgbClr val="1632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38250" y="5248275"/>
            <a:ext cx="880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结束语</a:t>
            </a:r>
            <a:endParaRPr sz="112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38250" y="5534025"/>
            <a:ext cx="880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本项目的价值不在于堆叠复杂模型，而在于在明确约束下完成一套可验证的机器学习工程：标签定义清楚，特征证据可见，模型选择有指标，误差分析有解释，系统落地有入口。</a:t>
            </a:r>
            <a:endParaRPr sz="101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71500" y="6496050"/>
            <a:ext cx="97155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71500" y="65722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结论：TF-IDF + LinearSVC 是当前数据规模与课程场景下的主模型；后续重点是扩充真实日记样本和置信度校准</a:t>
            </a:r>
            <a:endParaRPr sz="64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39500" y="65151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723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75" b="1">
              <a:solidFill>
                <a:srgbClr val="1723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8661</Words>
  <Application>WPS 演示</Application>
  <PresentationFormat>Converted Presentation</PresentationFormat>
  <Paragraphs>904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。。。。。。</cp:lastModifiedBy>
  <cp:revision>10</cp:revision>
  <dcterms:created xsi:type="dcterms:W3CDTF">2026-06-12T03:38:00Z</dcterms:created>
  <dcterms:modified xsi:type="dcterms:W3CDTF">2026-06-16T00:27:33Z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70DAC31B6B634ADBA912BC617F913EA4_12</vt:lpwstr>
  </property>
  <property fmtid="{D5CDD505-2E9C-101B-9397-08002B2CF9AE}" pid="3" name="KSOProductBuildVer">
    <vt:lpwstr>2052-12.1.0.26895</vt:lpwstr>
  </property>
</Properties>
</file>